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8" d="100"/>
          <a:sy n="48" d="100"/>
        </p:scale>
        <p:origin x="498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C60358-C7FC-4583-B3AD-EE58CD6A81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03D8D03-2DCA-48D5-8840-338D4B868D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1CD082-E91E-4D30-BFD6-A550D6DC08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8CBB6D-B9FF-4AC9-ADFC-CD3C0E69B581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3736CB-5C33-4F59-BE1B-D5C36AFFEC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98B2B5-CC70-4CBA-B9AF-42C770B043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ED404-F018-44FF-A383-3E3C8C13AC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67257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9BE5EA-F7C3-4CC1-8D01-5D79795599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B2F2C7-8FCD-4444-9843-ED2403DBA0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E780AA-5C94-4405-9611-5455AC1853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8CBB6D-B9FF-4AC9-ADFC-CD3C0E69B581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897F9C-1105-4827-80AF-78EA2B4F47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2FC58E-4D04-449F-B708-8EB0A88B89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ED404-F018-44FF-A383-3E3C8C13AC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87964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218B53-2DF0-4C45-99C8-3ED9B2B4E7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E8F2A4-D641-4799-82C7-BE423C207A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EAD354-0E69-4FFC-97AF-703170EFAE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8CBB6D-B9FF-4AC9-ADFC-CD3C0E69B581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9ADE13-E598-46BB-A8B6-534C59986A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02A6D9-DD52-49E7-9459-9D3E5986A7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ED404-F018-44FF-A383-3E3C8C13AC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06109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073001-45EE-4EDA-97A7-6AF1215282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F3C860-BD24-4C7F-A337-9251EF3BE23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CCBE86-36BE-4719-AC48-D6755AF0BE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F2CE59-FFA9-42A5-BA05-A05EE18E41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8CBB6D-B9FF-4AC9-ADFC-CD3C0E69B581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189DDF-43F6-45A1-9B08-61AB358B9D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E8A920-0193-4832-A724-A71F910055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ED404-F018-44FF-A383-3E3C8C13AC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93240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26A22-D6C5-4643-8C28-EFFA3008A5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EE26C1-B736-4266-BABE-28933E98B3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CF22C0-6D83-44D4-8980-CE74A59DC7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ECE0DE6-1892-436B-8A58-F86FE63EDD3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0664663-D038-44AD-BEB8-383FF383820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B04359E-BCC7-41E7-A2CF-B7C7B88E22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8CBB6D-B9FF-4AC9-ADFC-CD3C0E69B581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702793E-7128-460E-A712-BF4008A511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BCAA03-922A-42CF-A0FC-694BAACA11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ED404-F018-44FF-A383-3E3C8C13AC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5930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A5B617-F856-4C03-9284-86449C50F7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B9B0DA6-04F7-4130-88AB-8CBECFDD87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8CBB6D-B9FF-4AC9-ADFC-CD3C0E69B581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E7666BB-96BF-4248-B2C5-0621E98BB6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BB0938-8E53-4D10-907A-B29A1D5EBB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ED404-F018-44FF-A383-3E3C8C13AC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21331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74D703D-C193-4F42-8D04-50D2C22DDD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8CBB6D-B9FF-4AC9-ADFC-CD3C0E69B581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1A934BE-EEED-410D-BBF0-08A7182159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E72F30-71C8-4041-BA27-89ADB2B451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ED404-F018-44FF-A383-3E3C8C13AC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7819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0F489B-C75A-42D6-B2BB-8A228C8639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E90558-C569-408D-B194-C5FD3F64B0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468ABE-82BE-4266-BBCB-4E10ECD191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7FEBF9-B43A-4147-8466-303578B53F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8CBB6D-B9FF-4AC9-ADFC-CD3C0E69B581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5075C1-4E1D-4B1C-B671-BAB3053528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F9B9FC-0CBD-44BA-876D-CAEC265CAE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ED404-F018-44FF-A383-3E3C8C13AC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94113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955AC4-BB95-431B-9C7D-41FB6B450B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238AF38-F09C-43DF-906D-B69602DD2B3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BFB4AF-FFC8-466A-9214-C265B46388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2EAFA7-D47E-4FC2-B44A-F21224AC9B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8CBB6D-B9FF-4AC9-ADFC-CD3C0E69B581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240F5E-1099-461A-A56B-B3ABF836CF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C4896F-460B-44B0-9E77-ECD66F29DF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ED404-F018-44FF-A383-3E3C8C13AC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05275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F96EAF-6576-4961-AC00-B4E777D7B4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FF47B28-D4FF-42F9-AFDA-24762056C2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C45AED-E387-4FE3-8C05-D42D65B2F8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8CBB6D-B9FF-4AC9-ADFC-CD3C0E69B581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FAE0D7-8B36-4EDF-9177-2035E6A80F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67405F-6C1C-4D7D-8C40-6221E6692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ED404-F018-44FF-A383-3E3C8C13AC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1311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2BD2941-6729-42B1-BA0B-522F88EC348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3FCD5DD-5741-4F74-8205-416E5251FC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8C8A1E-B5DB-4C17-B159-1B97693388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8CBB6D-B9FF-4AC9-ADFC-CD3C0E69B581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DEC412-0C6C-49A0-9F20-B47336EAF0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C8CF66-669C-4076-969A-BBB836C56F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ED404-F018-44FF-A383-3E3C8C13AC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18905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FE599D4-725A-49B6-B07A-DE5179103D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5757CB-F070-4349-981D-56F63C270D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4AC70B-6D7F-425C-82C6-F2307E85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8CBB6D-B9FF-4AC9-ADFC-CD3C0E69B581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5A9EEA-BEC0-444B-BC8C-3D2BA5D3D5B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D23FF4-63CB-480C-AAB3-D80D23F163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FED404-F018-44FF-A383-3E3C8C13AC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39701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B4BEC4D-F9A0-4123-BFA8-E47D5CBA39D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0F1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F2941A0-BDF7-412A-B79C-B2A6965D5165}"/>
              </a:ext>
            </a:extLst>
          </p:cNvPr>
          <p:cNvSpPr txBox="1"/>
          <p:nvPr/>
        </p:nvSpPr>
        <p:spPr>
          <a:xfrm>
            <a:off x="571500" y="533400"/>
            <a:ext cx="11049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1000" b="1">
                <a:solidFill>
                  <a:srgbClr val="38BDF8"/>
                </a:solidFill>
                <a:latin typeface="Segoe UI" panose="020B0502040204020203" pitchFamily="34" charset="0"/>
              </a:rPr>
              <a:t>ESSENTIALS OF ARTIFICIAL INTELLIGENCE - FINAL GROUP PROJECT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15F408-B3EE-4D61-BB89-44BBA5E51DBA}"/>
              </a:ext>
            </a:extLst>
          </p:cNvPr>
          <p:cNvSpPr txBox="1"/>
          <p:nvPr/>
        </p:nvSpPr>
        <p:spPr>
          <a:xfrm>
            <a:off x="571500" y="914400"/>
            <a:ext cx="11049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3400" b="1">
                <a:solidFill>
                  <a:srgbClr val="F8FAFC"/>
                </a:solidFill>
                <a:latin typeface="Segoe UI" panose="020B0502040204020203" pitchFamily="34" charset="0"/>
              </a:rPr>
              <a:t>Diabetes Risk &amp; Lifestyle Advisor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31E31DC-B530-4953-959D-616AF90DBB69}"/>
              </a:ext>
            </a:extLst>
          </p:cNvPr>
          <p:cNvSpPr txBox="1"/>
          <p:nvPr/>
        </p:nvSpPr>
        <p:spPr>
          <a:xfrm>
            <a:off x="571500" y="1676400"/>
            <a:ext cx="1104900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1300">
                <a:solidFill>
                  <a:srgbClr val="94A3B8"/>
                </a:solidFill>
                <a:latin typeface="Segoe UI" panose="020B0502040204020203" pitchFamily="34" charset="0"/>
              </a:rPr>
              <a:t>A Multi-Stage Decision Support System Combining Machine Learning, Fuzzy Logic &amp; Expert Rules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F5F1760-FFF7-42A8-A850-608F8E80843B}"/>
              </a:ext>
            </a:extLst>
          </p:cNvPr>
          <p:cNvSpPr/>
          <p:nvPr/>
        </p:nvSpPr>
        <p:spPr>
          <a:xfrm>
            <a:off x="1143000" y="2260600"/>
            <a:ext cx="9906000" cy="1041400"/>
          </a:xfrm>
          <a:prstGeom prst="roundRect">
            <a:avLst/>
          </a:prstGeom>
          <a:solidFill>
            <a:srgbClr val="101C30"/>
          </a:solidFill>
          <a:ln w="12700">
            <a:solidFill>
              <a:srgbClr val="38BDF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4000" tIns="177800" rIns="254000" bIns="152400" rtlCol="0" anchor="ctr"/>
          <a:lstStyle/>
          <a:p>
            <a:pPr algn="ctr"/>
            <a:r>
              <a:rPr lang="en-US" sz="1150" b="1">
                <a:solidFill>
                  <a:srgbClr val="F8FAFC"/>
                </a:solidFill>
                <a:latin typeface="Segoe UI" panose="020B0502040204020203" pitchFamily="34" charset="0"/>
              </a:rPr>
              <a:t>STAGE 1: Neural Network (MLP)     -&gt;     STAGE 2: Fuzzy Logic Engine     -&gt;     STAGE 3: Rule-Based Advisor</a:t>
            </a:r>
          </a:p>
          <a:p>
            <a:pPr algn="ctr"/>
            <a:r>
              <a:rPr lang="en-US" sz="1150" b="1">
                <a:solidFill>
                  <a:srgbClr val="F8FAFC"/>
                </a:solidFill>
                <a:latin typeface="Segoe UI" panose="020B0502040204020203" pitchFamily="34" charset="0"/>
              </a:rPr>
              <a:t>[ Continuous Probability 0.0 - 1.0 ]          [ Linguistic Category: Low/Mod/High/Severe ]          [ 25+ Tailored Recommendations ]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53FD78B-529B-48B0-994A-B69CAEB5B3AF}"/>
              </a:ext>
            </a:extLst>
          </p:cNvPr>
          <p:cNvSpPr/>
          <p:nvPr/>
        </p:nvSpPr>
        <p:spPr>
          <a:xfrm>
            <a:off x="571500" y="3619500"/>
            <a:ext cx="2590800" cy="2476500"/>
          </a:xfrm>
          <a:prstGeom prst="roundRect">
            <a:avLst/>
          </a:prstGeom>
          <a:solidFill>
            <a:srgbClr val="151E2E"/>
          </a:solidFill>
          <a:ln w="12700">
            <a:solidFill>
              <a:srgbClr val="2A385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77800" tIns="177800" rIns="177800" bIns="152400" rtlCol="0" anchor="ctr"/>
          <a:lstStyle/>
          <a:p>
            <a:r>
              <a:rPr lang="en-US" sz="1300" b="1">
                <a:solidFill>
                  <a:srgbClr val="38BDF8"/>
                </a:solidFill>
                <a:latin typeface="Segoe UI" panose="020B0502040204020203" pitchFamily="34" charset="0"/>
              </a:rPr>
              <a:t>Member 1</a:t>
            </a:r>
          </a:p>
          <a:p>
            <a:r>
              <a:rPr lang="en-US" sz="1000" b="1">
                <a:solidFill>
                  <a:srgbClr val="F8FAFC"/>
                </a:solidFill>
                <a:latin typeface="Segoe UI" panose="020B0502040204020203" pitchFamily="34" charset="0"/>
              </a:rPr>
              <a:t>Overview &amp; Dataset</a:t>
            </a:r>
          </a:p>
          <a:p>
            <a:endParaRPr lang="en-US" sz="1050">
              <a:solidFill>
                <a:srgbClr val="94A3B8"/>
              </a:solidFill>
              <a:latin typeface="Segoe UI" panose="020B0502040204020203" pitchFamily="34" charset="0"/>
            </a:endParaRPr>
          </a:p>
          <a:p>
            <a:r>
              <a:rPr lang="en-US" sz="1050">
                <a:solidFill>
                  <a:srgbClr val="94A3B8"/>
                </a:solidFill>
                <a:latin typeface="Segoe UI" panose="020B0502040204020203" pitchFamily="34" charset="0"/>
              </a:rPr>
              <a:t>* Problem Statement</a:t>
            </a:r>
          </a:p>
          <a:p>
            <a:r>
              <a:rPr lang="en-US" sz="1050">
                <a:solidFill>
                  <a:srgbClr val="94A3B8"/>
                </a:solidFill>
                <a:latin typeface="Segoe UI" panose="020B0502040204020203" pitchFamily="34" charset="0"/>
              </a:rPr>
              <a:t>* Diabetes Burden &amp; Early Care</a:t>
            </a:r>
          </a:p>
          <a:p>
            <a:r>
              <a:rPr lang="en-US" sz="1050">
                <a:solidFill>
                  <a:srgbClr val="94A3B8"/>
                </a:solidFill>
                <a:latin typeface="Segoe UI" panose="020B0502040204020203" pitchFamily="34" charset="0"/>
              </a:rPr>
              <a:t>* Pima Indians Dataset</a:t>
            </a:r>
          </a:p>
          <a:p>
            <a:r>
              <a:rPr lang="en-US" sz="1050">
                <a:solidFill>
                  <a:srgbClr val="94A3B8"/>
                </a:solidFill>
                <a:latin typeface="Segoe UI" panose="020B0502040204020203" pitchFamily="34" charset="0"/>
              </a:rPr>
              <a:t>* Data Preprocessing Pipeline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B844CC06-5EE3-4E04-9B8E-3CDFF8ED0BBD}"/>
              </a:ext>
            </a:extLst>
          </p:cNvPr>
          <p:cNvSpPr/>
          <p:nvPr/>
        </p:nvSpPr>
        <p:spPr>
          <a:xfrm>
            <a:off x="3390900" y="3619500"/>
            <a:ext cx="2590800" cy="2476500"/>
          </a:xfrm>
          <a:prstGeom prst="roundRect">
            <a:avLst/>
          </a:prstGeom>
          <a:solidFill>
            <a:srgbClr val="151E2E"/>
          </a:solidFill>
          <a:ln w="12700">
            <a:solidFill>
              <a:srgbClr val="2A385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77800" tIns="177800" rIns="177800" bIns="152400" rtlCol="0" anchor="ctr"/>
          <a:lstStyle/>
          <a:p>
            <a:r>
              <a:rPr lang="en-US" sz="1300" b="1">
                <a:solidFill>
                  <a:srgbClr val="38BDF8"/>
                </a:solidFill>
                <a:latin typeface="Segoe UI" panose="020B0502040204020203" pitchFamily="34" charset="0"/>
              </a:rPr>
              <a:t>Member 2</a:t>
            </a:r>
          </a:p>
          <a:p>
            <a:r>
              <a:rPr lang="en-US" sz="1000" b="1">
                <a:solidFill>
                  <a:srgbClr val="F8FAFC"/>
                </a:solidFill>
                <a:latin typeface="Segoe UI" panose="020B0502040204020203" pitchFamily="34" charset="0"/>
              </a:rPr>
              <a:t>Architecture &amp; NN</a:t>
            </a:r>
          </a:p>
          <a:p>
            <a:endParaRPr lang="en-US" sz="1050">
              <a:solidFill>
                <a:srgbClr val="94A3B8"/>
              </a:solidFill>
              <a:latin typeface="Segoe UI" panose="020B0502040204020203" pitchFamily="34" charset="0"/>
            </a:endParaRPr>
          </a:p>
          <a:p>
            <a:r>
              <a:rPr lang="en-US" sz="1050">
                <a:solidFill>
                  <a:srgbClr val="94A3B8"/>
                </a:solidFill>
                <a:latin typeface="Segoe UI" panose="020B0502040204020203" pitchFamily="34" charset="0"/>
              </a:rPr>
              <a:t>* 3-Stage Sequential Flow</a:t>
            </a:r>
          </a:p>
          <a:p>
            <a:r>
              <a:rPr lang="en-US" sz="1050">
                <a:solidFill>
                  <a:srgbClr val="94A3B8"/>
                </a:solidFill>
                <a:latin typeface="Segoe UI" panose="020B0502040204020203" pitchFamily="34" charset="0"/>
              </a:rPr>
              <a:t>* MLPClassifier Model Design</a:t>
            </a:r>
          </a:p>
          <a:p>
            <a:r>
              <a:rPr lang="en-US" sz="1050">
                <a:solidFill>
                  <a:srgbClr val="94A3B8"/>
                </a:solidFill>
                <a:latin typeface="Segoe UI" panose="020B0502040204020203" pitchFamily="34" charset="0"/>
              </a:rPr>
              <a:t>* Training &amp; Hyperparameters</a:t>
            </a:r>
          </a:p>
          <a:p>
            <a:r>
              <a:rPr lang="en-US" sz="1050">
                <a:solidFill>
                  <a:srgbClr val="94A3B8"/>
                </a:solidFill>
                <a:latin typeface="Segoe UI" panose="020B0502040204020203" pitchFamily="34" charset="0"/>
              </a:rPr>
              <a:t>* Model Evaluation Metrics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52FA710A-873E-481E-9D72-852E10EB33FE}"/>
              </a:ext>
            </a:extLst>
          </p:cNvPr>
          <p:cNvSpPr/>
          <p:nvPr/>
        </p:nvSpPr>
        <p:spPr>
          <a:xfrm>
            <a:off x="6210300" y="3619500"/>
            <a:ext cx="2590800" cy="2476500"/>
          </a:xfrm>
          <a:prstGeom prst="roundRect">
            <a:avLst/>
          </a:prstGeom>
          <a:solidFill>
            <a:srgbClr val="151E2E"/>
          </a:solidFill>
          <a:ln w="12700">
            <a:solidFill>
              <a:srgbClr val="2A385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77800" tIns="177800" rIns="177800" bIns="152400" rtlCol="0" anchor="ctr"/>
          <a:lstStyle/>
          <a:p>
            <a:r>
              <a:rPr lang="en-US" sz="1300" b="1">
                <a:solidFill>
                  <a:srgbClr val="38BDF8"/>
                </a:solidFill>
                <a:latin typeface="Segoe UI" panose="020B0502040204020203" pitchFamily="34" charset="0"/>
              </a:rPr>
              <a:t>Member 3</a:t>
            </a:r>
          </a:p>
          <a:p>
            <a:r>
              <a:rPr lang="en-US" sz="1000" b="1">
                <a:solidFill>
                  <a:srgbClr val="F8FAFC"/>
                </a:solidFill>
                <a:latin typeface="Segoe UI" panose="020B0502040204020203" pitchFamily="34" charset="0"/>
              </a:rPr>
              <a:t>Fuzzy Logic &amp; Rules</a:t>
            </a:r>
          </a:p>
          <a:p>
            <a:endParaRPr lang="en-US" sz="1050">
              <a:solidFill>
                <a:srgbClr val="94A3B8"/>
              </a:solidFill>
              <a:latin typeface="Segoe UI" panose="020B0502040204020203" pitchFamily="34" charset="0"/>
            </a:endParaRPr>
          </a:p>
          <a:p>
            <a:r>
              <a:rPr lang="en-US" sz="1050">
                <a:solidFill>
                  <a:srgbClr val="94A3B8"/>
                </a:solidFill>
                <a:latin typeface="Segoe UI" panose="020B0502040204020203" pitchFamily="34" charset="0"/>
              </a:rPr>
              <a:t>* Why Fuzzy Reasoning?</a:t>
            </a:r>
          </a:p>
          <a:p>
            <a:r>
              <a:rPr lang="en-US" sz="1050">
                <a:solidFill>
                  <a:srgbClr val="94A3B8"/>
                </a:solidFill>
                <a:latin typeface="Segoe UI" panose="020B0502040204020203" pitchFamily="34" charset="0"/>
              </a:rPr>
              <a:t>* 36 Combinatorial Rules</a:t>
            </a:r>
          </a:p>
          <a:p>
            <a:r>
              <a:rPr lang="en-US" sz="1050">
                <a:solidFill>
                  <a:srgbClr val="94A3B8"/>
                </a:solidFill>
                <a:latin typeface="Segoe UI" panose="020B0502040204020203" pitchFamily="34" charset="0"/>
              </a:rPr>
              <a:t>* Rule-Based Expert Advisor</a:t>
            </a:r>
          </a:p>
          <a:p>
            <a:r>
              <a:rPr lang="en-US" sz="1050">
                <a:solidFill>
                  <a:srgbClr val="94A3B8"/>
                </a:solidFill>
                <a:latin typeface="Segoe UI" panose="020B0502040204020203" pitchFamily="34" charset="0"/>
              </a:rPr>
              <a:t>* Streamlit Web Architecture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A351EF2C-39FC-406F-87F3-4116BF87E7E3}"/>
              </a:ext>
            </a:extLst>
          </p:cNvPr>
          <p:cNvSpPr/>
          <p:nvPr/>
        </p:nvSpPr>
        <p:spPr>
          <a:xfrm>
            <a:off x="9029700" y="3619500"/>
            <a:ext cx="2590800" cy="2476500"/>
          </a:xfrm>
          <a:prstGeom prst="roundRect">
            <a:avLst/>
          </a:prstGeom>
          <a:solidFill>
            <a:srgbClr val="151E2E"/>
          </a:solidFill>
          <a:ln w="12700">
            <a:solidFill>
              <a:srgbClr val="2A385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77800" tIns="177800" rIns="177800" bIns="152400" rtlCol="0" anchor="ctr"/>
          <a:lstStyle/>
          <a:p>
            <a:r>
              <a:rPr lang="en-US" sz="1300" b="1">
                <a:solidFill>
                  <a:srgbClr val="38BDF8"/>
                </a:solidFill>
                <a:latin typeface="Segoe UI" panose="020B0502040204020203" pitchFamily="34" charset="0"/>
              </a:rPr>
              <a:t>Member 4</a:t>
            </a:r>
          </a:p>
          <a:p>
            <a:r>
              <a:rPr lang="en-US" sz="1000" b="1">
                <a:solidFill>
                  <a:srgbClr val="F8FAFC"/>
                </a:solidFill>
                <a:latin typeface="Segoe UI" panose="020B0502040204020203" pitchFamily="34" charset="0"/>
              </a:rPr>
              <a:t>Demo, Tests &amp; Ethics</a:t>
            </a:r>
          </a:p>
          <a:p>
            <a:endParaRPr lang="en-US" sz="1050">
              <a:solidFill>
                <a:srgbClr val="94A3B8"/>
              </a:solidFill>
              <a:latin typeface="Segoe UI" panose="020B0502040204020203" pitchFamily="34" charset="0"/>
            </a:endParaRPr>
          </a:p>
          <a:p>
            <a:r>
              <a:rPr lang="en-US" sz="1050">
                <a:solidFill>
                  <a:srgbClr val="94A3B8"/>
                </a:solidFill>
                <a:latin typeface="Segoe UI" panose="020B0502040204020203" pitchFamily="34" charset="0"/>
              </a:rPr>
              <a:t>* Live System Walkthrough</a:t>
            </a:r>
          </a:p>
          <a:p>
            <a:r>
              <a:rPr lang="en-US" sz="1050">
                <a:solidFill>
                  <a:srgbClr val="94A3B8"/>
                </a:solidFill>
                <a:latin typeface="Segoe UI" panose="020B0502040204020203" pitchFamily="34" charset="0"/>
              </a:rPr>
              <a:t>* 10 Test Patient Profiles</a:t>
            </a:r>
          </a:p>
          <a:p>
            <a:r>
              <a:rPr lang="en-US" sz="1050">
                <a:solidFill>
                  <a:srgbClr val="94A3B8"/>
                </a:solidFill>
                <a:latin typeface="Segoe UI" panose="020B0502040204020203" pitchFamily="34" charset="0"/>
              </a:rPr>
              <a:t>* Limitations &amp; Dataset Bias</a:t>
            </a:r>
          </a:p>
          <a:p>
            <a:r>
              <a:rPr lang="en-US" sz="1050">
                <a:solidFill>
                  <a:srgbClr val="94A3B8"/>
                </a:solidFill>
                <a:latin typeface="Segoe UI" panose="020B0502040204020203" pitchFamily="34" charset="0"/>
              </a:rPr>
              <a:t>* Ethical Safeguards &amp; Summary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B7E5312-DB6E-49CF-93FB-C499A7B3ECA6}"/>
              </a:ext>
            </a:extLst>
          </p:cNvPr>
          <p:cNvSpPr txBox="1"/>
          <p:nvPr/>
        </p:nvSpPr>
        <p:spPr>
          <a:xfrm>
            <a:off x="571500" y="6375400"/>
            <a:ext cx="5715000" cy="184666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US" sz="900">
                <a:solidFill>
                  <a:srgbClr val="94A3B8"/>
                </a:solidFill>
                <a:latin typeface="Segoe UI" panose="020B0502040204020203" pitchFamily="34" charset="0"/>
              </a:rPr>
              <a:t>Essentials of AI - Group Project | Diabetes Risk &amp; Lifestyle Advisor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E8F8616-404F-4B43-97EF-72E2D8299367}"/>
              </a:ext>
            </a:extLst>
          </p:cNvPr>
          <p:cNvSpPr txBox="1"/>
          <p:nvPr/>
        </p:nvSpPr>
        <p:spPr>
          <a:xfrm>
            <a:off x="6604000" y="6375400"/>
            <a:ext cx="3556000" cy="184666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US" sz="900" b="1">
                <a:solidFill>
                  <a:srgbClr val="38BDF8"/>
                </a:solidFill>
                <a:latin typeface="Segoe UI" panose="020B0502040204020203" pitchFamily="34" charset="0"/>
              </a:rPr>
              <a:t>Speaker: All Members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0C0F1D6-83BA-493B-91BE-9533EFCCFCDD}"/>
              </a:ext>
            </a:extLst>
          </p:cNvPr>
          <p:cNvSpPr txBox="1"/>
          <p:nvPr/>
        </p:nvSpPr>
        <p:spPr>
          <a:xfrm>
            <a:off x="10668000" y="6375400"/>
            <a:ext cx="952500" cy="184666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pPr algn="r"/>
            <a:r>
              <a:rPr lang="en-US" sz="900">
                <a:solidFill>
                  <a:srgbClr val="94A3B8"/>
                </a:solidFill>
                <a:latin typeface="Segoe UI" panose="020B0502040204020203" pitchFamily="34" charset="0"/>
              </a:rPr>
              <a:t>1 / 12</a:t>
            </a:r>
          </a:p>
        </p:txBody>
      </p:sp>
    </p:spTree>
    <p:extLst>
      <p:ext uri="{BB962C8B-B14F-4D97-AF65-F5344CB8AC3E}">
        <p14:creationId xmlns:p14="http://schemas.microsoft.com/office/powerpoint/2010/main" val="3478408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40F4501-CAF3-400A-9366-875942BF30C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0F1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19BB85A-97A7-4C3D-8D78-BEFCF51CD785}"/>
              </a:ext>
            </a:extLst>
          </p:cNvPr>
          <p:cNvSpPr txBox="1"/>
          <p:nvPr/>
        </p:nvSpPr>
        <p:spPr>
          <a:xfrm>
            <a:off x="571500" y="254000"/>
            <a:ext cx="6350000" cy="192360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US" sz="950" b="1">
                <a:solidFill>
                  <a:srgbClr val="F87171"/>
                </a:solidFill>
                <a:latin typeface="Segoe UI" panose="020B0502040204020203" pitchFamily="34" charset="0"/>
              </a:rPr>
              <a:t>PROJECT MOTIVATION &amp; SCOPE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C06ED35-3004-4E40-BFEA-6B8FE3EA53D0}"/>
              </a:ext>
            </a:extLst>
          </p:cNvPr>
          <p:cNvSpPr txBox="1"/>
          <p:nvPr/>
        </p:nvSpPr>
        <p:spPr>
          <a:xfrm>
            <a:off x="571500" y="482600"/>
            <a:ext cx="10795000" cy="369332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US" sz="2100" b="1">
                <a:solidFill>
                  <a:srgbClr val="F8FAFC"/>
                </a:solidFill>
                <a:latin typeface="Segoe UI" panose="020B0502040204020203" pitchFamily="34" charset="0"/>
              </a:rPr>
              <a:t>Problem Statement &amp; Project Goal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904C007-EC30-4453-A9A6-33EA77319C17}"/>
              </a:ext>
            </a:extLst>
          </p:cNvPr>
          <p:cNvSpPr/>
          <p:nvPr/>
        </p:nvSpPr>
        <p:spPr>
          <a:xfrm>
            <a:off x="571500" y="990600"/>
            <a:ext cx="698500" cy="38100"/>
          </a:xfrm>
          <a:prstGeom prst="rect">
            <a:avLst/>
          </a:prstGeom>
          <a:solidFill>
            <a:srgbClr val="F8717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AC84A2A-CB1F-4B54-8232-D318B86C2C12}"/>
              </a:ext>
            </a:extLst>
          </p:cNvPr>
          <p:cNvSpPr/>
          <p:nvPr/>
        </p:nvSpPr>
        <p:spPr>
          <a:xfrm>
            <a:off x="571500" y="1206500"/>
            <a:ext cx="5359400" cy="4889500"/>
          </a:xfrm>
          <a:prstGeom prst="roundRect">
            <a:avLst/>
          </a:prstGeom>
          <a:solidFill>
            <a:srgbClr val="231218"/>
          </a:solidFill>
          <a:ln w="12700">
            <a:solidFill>
              <a:srgbClr val="B91C1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28600" tIns="203200" rIns="228600" bIns="152400" rtlCol="0" anchor="ctr"/>
          <a:lstStyle/>
          <a:p>
            <a:r>
              <a:rPr lang="en-US" sz="1350" b="1">
                <a:solidFill>
                  <a:srgbClr val="F87171"/>
                </a:solidFill>
                <a:latin typeface="Segoe UI" panose="020B0502040204020203" pitchFamily="34" charset="0"/>
              </a:rPr>
              <a:t>The Global Diabetes Challenge</a:t>
            </a:r>
          </a:p>
          <a:p>
            <a:endParaRPr lang="en-US" sz="1050">
              <a:solidFill>
                <a:srgbClr val="F8FAFC"/>
              </a:solidFill>
              <a:latin typeface="Segoe UI" panose="020B0502040204020203" pitchFamily="34" charset="0"/>
            </a:endParaRPr>
          </a:p>
          <a:p>
            <a:r>
              <a:rPr lang="en-US" sz="1050">
                <a:solidFill>
                  <a:srgbClr val="F8FAFC"/>
                </a:solidFill>
                <a:latin typeface="Segoe UI" panose="020B0502040204020203" pitchFamily="34" charset="0"/>
              </a:rPr>
              <a:t>* Massive Global Prevalence:</a:t>
            </a:r>
          </a:p>
          <a:p>
            <a:r>
              <a:rPr lang="en-US" sz="1050">
                <a:solidFill>
                  <a:srgbClr val="F8FAFC"/>
                </a:solidFill>
                <a:latin typeface="Segoe UI" panose="020B0502040204020203" pitchFamily="34" charset="0"/>
              </a:rPr>
              <a:t>  According to the International Diabetes Federation (IDF), over 537 million adults live with diabetes worldwide.</a:t>
            </a:r>
          </a:p>
          <a:p>
            <a:endParaRPr lang="en-US" sz="1050">
              <a:solidFill>
                <a:srgbClr val="F8FAFC"/>
              </a:solidFill>
              <a:latin typeface="Segoe UI" panose="020B0502040204020203" pitchFamily="34" charset="0"/>
            </a:endParaRPr>
          </a:p>
          <a:p>
            <a:r>
              <a:rPr lang="en-US" sz="1050">
                <a:solidFill>
                  <a:srgbClr val="F8FAFC"/>
                </a:solidFill>
                <a:latin typeface="Segoe UI" panose="020B0502040204020203" pitchFamily="34" charset="0"/>
              </a:rPr>
              <a:t>* Undiagnosed Burden (~50%):</a:t>
            </a:r>
          </a:p>
          <a:p>
            <a:r>
              <a:rPr lang="en-US" sz="1050">
                <a:solidFill>
                  <a:srgbClr val="F8FAFC"/>
                </a:solidFill>
                <a:latin typeface="Segoe UI" panose="020B0502040204020203" pitchFamily="34" charset="0"/>
              </a:rPr>
              <a:t>  Nearly half of all individuals with diabetes remain undiagnosed, delaying essential care until complications arise.</a:t>
            </a:r>
          </a:p>
          <a:p>
            <a:endParaRPr lang="en-US" sz="1050">
              <a:solidFill>
                <a:srgbClr val="F8FAFC"/>
              </a:solidFill>
              <a:latin typeface="Segoe UI" panose="020B0502040204020203" pitchFamily="34" charset="0"/>
            </a:endParaRPr>
          </a:p>
          <a:p>
            <a:r>
              <a:rPr lang="en-US" sz="1050">
                <a:solidFill>
                  <a:srgbClr val="F8FAFC"/>
                </a:solidFill>
                <a:latin typeface="Segoe UI" panose="020B0502040204020203" pitchFamily="34" charset="0"/>
              </a:rPr>
              <a:t>* Preventable with Timely Action:</a:t>
            </a:r>
          </a:p>
          <a:p>
            <a:r>
              <a:rPr lang="en-US" sz="1050">
                <a:solidFill>
                  <a:srgbClr val="F8FAFC"/>
                </a:solidFill>
                <a:latin typeface="Segoe UI" panose="020B0502040204020203" pitchFamily="34" charset="0"/>
              </a:rPr>
              <a:t>  Clinical studies prove early lifestyle intervention can reduce Type 2 diabetes risk by up to 58%.</a:t>
            </a:r>
          </a:p>
          <a:p>
            <a:endParaRPr lang="en-US" sz="1050">
              <a:solidFill>
                <a:srgbClr val="F8FAFC"/>
              </a:solidFill>
              <a:latin typeface="Segoe UI" panose="020B0502040204020203" pitchFamily="34" charset="0"/>
            </a:endParaRPr>
          </a:p>
          <a:p>
            <a:r>
              <a:rPr lang="en-US" sz="1050">
                <a:solidFill>
                  <a:srgbClr val="F8FAFC"/>
                </a:solidFill>
                <a:latin typeface="Segoe UI" panose="020B0502040204020203" pitchFamily="34" charset="0"/>
              </a:rPr>
              <a:t>* Limitations of Standard AI Tools:</a:t>
            </a:r>
          </a:p>
          <a:p>
            <a:r>
              <a:rPr lang="en-US" sz="1050">
                <a:solidFill>
                  <a:srgbClr val="F8FAFC"/>
                </a:solidFill>
                <a:latin typeface="Segoe UI" panose="020B0502040204020203" pitchFamily="34" charset="0"/>
              </a:rPr>
              <a:t>  Pure black-box classifiers output raw probabilities (e.g. 0.62) with zero actionable guidance, leaving users without practical lifestyle steps.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9D713B4B-A021-4BDC-BA88-F4DB863D4A13}"/>
              </a:ext>
            </a:extLst>
          </p:cNvPr>
          <p:cNvSpPr/>
          <p:nvPr/>
        </p:nvSpPr>
        <p:spPr>
          <a:xfrm>
            <a:off x="6261100" y="1206500"/>
            <a:ext cx="5359400" cy="4889500"/>
          </a:xfrm>
          <a:prstGeom prst="roundRect">
            <a:avLst/>
          </a:prstGeom>
          <a:solidFill>
            <a:srgbClr val="0E241C"/>
          </a:solidFill>
          <a:ln w="12700">
            <a:solidFill>
              <a:srgbClr val="16A34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28600" tIns="203200" rIns="228600" bIns="152400" rtlCol="0" anchor="ctr"/>
          <a:lstStyle/>
          <a:p>
            <a:r>
              <a:rPr lang="en-US" sz="1350" b="1">
                <a:solidFill>
                  <a:srgbClr val="4ADE80"/>
                </a:solidFill>
                <a:latin typeface="Segoe UI" panose="020B0502040204020203" pitchFamily="34" charset="0"/>
              </a:rPr>
              <a:t>Our Hybrid AI Solution</a:t>
            </a:r>
          </a:p>
          <a:p>
            <a:endParaRPr lang="en-US" sz="1050">
              <a:solidFill>
                <a:srgbClr val="F8FAFC"/>
              </a:solidFill>
              <a:latin typeface="Segoe UI" panose="020B0502040204020203" pitchFamily="34" charset="0"/>
            </a:endParaRPr>
          </a:p>
          <a:p>
            <a:r>
              <a:rPr lang="en-US" sz="1050">
                <a:solidFill>
                  <a:srgbClr val="F8FAFC"/>
                </a:solidFill>
                <a:latin typeface="Segoe UI" panose="020B0502040204020203" pitchFamily="34" charset="0"/>
              </a:rPr>
              <a:t>* Chained 3-Stage Pipeline:</a:t>
            </a:r>
          </a:p>
          <a:p>
            <a:r>
              <a:rPr lang="en-US" sz="1050">
                <a:solidFill>
                  <a:srgbClr val="F8FAFC"/>
                </a:solidFill>
                <a:latin typeface="Segoe UI" panose="020B0502040204020203" pitchFamily="34" charset="0"/>
              </a:rPr>
              <a:t>  Integrates predictive machine learning, fuzzy inference, and expert decision rules into a cohesive clinical workflow.</a:t>
            </a:r>
          </a:p>
          <a:p>
            <a:endParaRPr lang="en-US" sz="1050">
              <a:solidFill>
                <a:srgbClr val="F8FAFC"/>
              </a:solidFill>
              <a:latin typeface="Segoe UI" panose="020B0502040204020203" pitchFamily="34" charset="0"/>
            </a:endParaRPr>
          </a:p>
          <a:p>
            <a:r>
              <a:rPr lang="en-US" sz="1050">
                <a:solidFill>
                  <a:srgbClr val="F8FAFC"/>
                </a:solidFill>
                <a:latin typeface="Segoe UI" panose="020B0502040204020203" pitchFamily="34" charset="0"/>
              </a:rPr>
              <a:t>* Nuanced Risk Categorization:</a:t>
            </a:r>
          </a:p>
          <a:p>
            <a:r>
              <a:rPr lang="en-US" sz="1050">
                <a:solidFill>
                  <a:srgbClr val="F8FAFC"/>
                </a:solidFill>
                <a:latin typeface="Segoe UI" panose="020B0502040204020203" pitchFamily="34" charset="0"/>
              </a:rPr>
              <a:t>  Instead of binary yes/no, fuzzy logic factors in BMI and physical activity to assess continuous real-world vulnerability.</a:t>
            </a:r>
          </a:p>
          <a:p>
            <a:endParaRPr lang="en-US" sz="1050">
              <a:solidFill>
                <a:srgbClr val="F8FAFC"/>
              </a:solidFill>
              <a:latin typeface="Segoe UI" panose="020B0502040204020203" pitchFamily="34" charset="0"/>
            </a:endParaRPr>
          </a:p>
          <a:p>
            <a:r>
              <a:rPr lang="en-US" sz="1050">
                <a:solidFill>
                  <a:srgbClr val="F8FAFC"/>
                </a:solidFill>
                <a:latin typeface="Segoe UI" panose="020B0502040204020203" pitchFamily="34" charset="0"/>
              </a:rPr>
              <a:t>* Personalized Lifestyle Action Plans:</a:t>
            </a:r>
          </a:p>
          <a:p>
            <a:r>
              <a:rPr lang="en-US" sz="1050">
                <a:solidFill>
                  <a:srgbClr val="F8FAFC"/>
                </a:solidFill>
                <a:latin typeface="Segoe UI" panose="020B0502040204020203" pitchFamily="34" charset="0"/>
              </a:rPr>
              <a:t>  The expert engine provides 25-30 tailored nutritional, fitness, and medical recommendations customized to individual vitals.</a:t>
            </a:r>
          </a:p>
          <a:p>
            <a:endParaRPr lang="en-US" sz="1050">
              <a:solidFill>
                <a:srgbClr val="F8FAFC"/>
              </a:solidFill>
              <a:latin typeface="Segoe UI" panose="020B0502040204020203" pitchFamily="34" charset="0"/>
            </a:endParaRPr>
          </a:p>
          <a:p>
            <a:r>
              <a:rPr lang="en-US" sz="1050">
                <a:solidFill>
                  <a:srgbClr val="F8FAFC"/>
                </a:solidFill>
                <a:latin typeface="Segoe UI" panose="020B0502040204020203" pitchFamily="34" charset="0"/>
              </a:rPr>
              <a:t>* Accessible &amp; Educational:</a:t>
            </a:r>
          </a:p>
          <a:p>
            <a:r>
              <a:rPr lang="en-US" sz="1050">
                <a:solidFill>
                  <a:srgbClr val="F8FAFC"/>
                </a:solidFill>
                <a:latin typeface="Segoe UI" panose="020B0502040204020203" pitchFamily="34" charset="0"/>
              </a:rPr>
              <a:t>  Deployed as an interactive web dashboard with transparent disclaimers and immediate visual feedback.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8E0979A-DAD8-429C-B850-E5E3CF19692D}"/>
              </a:ext>
            </a:extLst>
          </p:cNvPr>
          <p:cNvSpPr txBox="1"/>
          <p:nvPr/>
        </p:nvSpPr>
        <p:spPr>
          <a:xfrm>
            <a:off x="571500" y="6375400"/>
            <a:ext cx="5715000" cy="184666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US" sz="900">
                <a:solidFill>
                  <a:srgbClr val="94A3B8"/>
                </a:solidFill>
                <a:latin typeface="Segoe UI" panose="020B0502040204020203" pitchFamily="34" charset="0"/>
              </a:rPr>
              <a:t>Essentials of AI - Group Project | Diabetes Risk &amp; Lifestyle Advisor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8EEB09B-4EBB-4D27-A78D-69D5D6541E39}"/>
              </a:ext>
            </a:extLst>
          </p:cNvPr>
          <p:cNvSpPr txBox="1"/>
          <p:nvPr/>
        </p:nvSpPr>
        <p:spPr>
          <a:xfrm>
            <a:off x="6604000" y="6375400"/>
            <a:ext cx="3556000" cy="184666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US" sz="900" b="1">
                <a:solidFill>
                  <a:srgbClr val="38BDF8"/>
                </a:solidFill>
                <a:latin typeface="Segoe UI" panose="020B0502040204020203" pitchFamily="34" charset="0"/>
              </a:rPr>
              <a:t>Speaker: Member 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23AE861-8B2C-40CF-B025-10DC16914E58}"/>
              </a:ext>
            </a:extLst>
          </p:cNvPr>
          <p:cNvSpPr txBox="1"/>
          <p:nvPr/>
        </p:nvSpPr>
        <p:spPr>
          <a:xfrm>
            <a:off x="10668000" y="6375400"/>
            <a:ext cx="952500" cy="184666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pPr algn="r"/>
            <a:r>
              <a:rPr lang="en-US" sz="900">
                <a:solidFill>
                  <a:srgbClr val="94A3B8"/>
                </a:solidFill>
                <a:latin typeface="Segoe UI" panose="020B0502040204020203" pitchFamily="34" charset="0"/>
              </a:rPr>
              <a:t>2 / 12</a:t>
            </a:r>
          </a:p>
        </p:txBody>
      </p:sp>
    </p:spTree>
    <p:extLst>
      <p:ext uri="{BB962C8B-B14F-4D97-AF65-F5344CB8AC3E}">
        <p14:creationId xmlns:p14="http://schemas.microsoft.com/office/powerpoint/2010/main" val="3528384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9D88110-A665-4EF2-A63A-3A03FFE5BF5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0F1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9AF4A10-E536-41EB-A38A-1F56E3A1BA8C}"/>
              </a:ext>
            </a:extLst>
          </p:cNvPr>
          <p:cNvSpPr txBox="1"/>
          <p:nvPr/>
        </p:nvSpPr>
        <p:spPr>
          <a:xfrm>
            <a:off x="571500" y="254000"/>
            <a:ext cx="6350000" cy="192360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US" sz="950" b="1">
                <a:solidFill>
                  <a:srgbClr val="FBBF24"/>
                </a:solidFill>
                <a:latin typeface="Segoe UI" panose="020B0502040204020203" pitchFamily="34" charset="0"/>
              </a:rPr>
              <a:t>DATA ENGINEERING &amp; PREPARATION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0078E52-3C15-417F-953C-8EBA70A68A8A}"/>
              </a:ext>
            </a:extLst>
          </p:cNvPr>
          <p:cNvSpPr txBox="1"/>
          <p:nvPr/>
        </p:nvSpPr>
        <p:spPr>
          <a:xfrm>
            <a:off x="571500" y="482600"/>
            <a:ext cx="10795000" cy="369332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pt-BR" sz="2100" b="1">
                <a:solidFill>
                  <a:srgbClr val="F8FAFC"/>
                </a:solidFill>
                <a:latin typeface="Segoe UI" panose="020B0502040204020203" pitchFamily="34" charset="0"/>
              </a:rPr>
              <a:t>Pima Indians Diabetes Dataset &amp; Preprocessing</a:t>
            </a:r>
            <a:endParaRPr lang="en-US" sz="2100" b="1">
              <a:solidFill>
                <a:srgbClr val="F8FAFC"/>
              </a:solidFill>
              <a:latin typeface="Segoe UI" panose="020B0502040204020203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E964DCA-6DAC-4D20-9D98-551131BD3B80}"/>
              </a:ext>
            </a:extLst>
          </p:cNvPr>
          <p:cNvSpPr/>
          <p:nvPr/>
        </p:nvSpPr>
        <p:spPr>
          <a:xfrm>
            <a:off x="571500" y="990600"/>
            <a:ext cx="698500" cy="38100"/>
          </a:xfrm>
          <a:prstGeom prst="rect">
            <a:avLst/>
          </a:prstGeom>
          <a:solidFill>
            <a:srgbClr val="FBBF2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ED33D5B6-D3E7-4C60-8A6C-90C8DB495DB4}"/>
              </a:ext>
            </a:extLst>
          </p:cNvPr>
          <p:cNvSpPr/>
          <p:nvPr/>
        </p:nvSpPr>
        <p:spPr>
          <a:xfrm>
            <a:off x="571500" y="1206500"/>
            <a:ext cx="5359400" cy="4889500"/>
          </a:xfrm>
          <a:prstGeom prst="roundRect">
            <a:avLst/>
          </a:prstGeom>
          <a:solidFill>
            <a:srgbClr val="151E2E"/>
          </a:solidFill>
          <a:ln w="12700">
            <a:solidFill>
              <a:srgbClr val="2A385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28600" tIns="203200" rIns="228600" bIns="152400" rtlCol="0" anchor="ctr"/>
          <a:lstStyle/>
          <a:p>
            <a:r>
              <a:rPr lang="en-US" sz="1350" b="1">
                <a:solidFill>
                  <a:srgbClr val="FBBF24"/>
                </a:solidFill>
                <a:latin typeface="Segoe UI" panose="020B0502040204020203" pitchFamily="34" charset="0"/>
              </a:rPr>
              <a:t>Dataset Overview &amp; Data Cleaning</a:t>
            </a:r>
          </a:p>
          <a:p>
            <a:endParaRPr lang="en-US" sz="1050">
              <a:solidFill>
                <a:srgbClr val="94A3B8"/>
              </a:solidFill>
              <a:latin typeface="Segoe UI" panose="020B0502040204020203" pitchFamily="34" charset="0"/>
            </a:endParaRPr>
          </a:p>
          <a:p>
            <a:r>
              <a:rPr lang="en-US" sz="1050">
                <a:solidFill>
                  <a:srgbClr val="94A3B8"/>
                </a:solidFill>
                <a:latin typeface="Segoe UI" panose="020B0502040204020203" pitchFamily="34" charset="0"/>
              </a:rPr>
              <a:t>* Origin &amp; Scope:</a:t>
            </a:r>
          </a:p>
          <a:p>
            <a:r>
              <a:rPr lang="en-US" sz="1050">
                <a:solidFill>
                  <a:srgbClr val="94A3B8"/>
                </a:solidFill>
                <a:latin typeface="Segoe UI" panose="020B0502040204020203" pitchFamily="34" charset="0"/>
              </a:rPr>
              <a:t>  National Institute of Diabetes and Digestive and Kidney Diseases (NIDDK), hosted on UCI Machine Learning Repository.</a:t>
            </a:r>
          </a:p>
          <a:p>
            <a:endParaRPr lang="en-US" sz="1050">
              <a:solidFill>
                <a:srgbClr val="94A3B8"/>
              </a:solidFill>
              <a:latin typeface="Segoe UI" panose="020B0502040204020203" pitchFamily="34" charset="0"/>
            </a:endParaRPr>
          </a:p>
          <a:p>
            <a:r>
              <a:rPr lang="en-US" sz="1050">
                <a:solidFill>
                  <a:srgbClr val="94A3B8"/>
                </a:solidFill>
                <a:latin typeface="Segoe UI" panose="020B0502040204020203" pitchFamily="34" charset="0"/>
              </a:rPr>
              <a:t>* Cohort Characteristics:</a:t>
            </a:r>
          </a:p>
          <a:p>
            <a:r>
              <a:rPr lang="en-US" sz="1050">
                <a:solidFill>
                  <a:srgbClr val="94A3B8"/>
                </a:solidFill>
                <a:latin typeface="Segoe UI" panose="020B0502040204020203" pitchFamily="34" charset="0"/>
              </a:rPr>
              <a:t>  768 female patients of Pima Native American heritage, aged 21 and older. Target: Outcome (0 = Healthy, 1 = Diabetic).</a:t>
            </a:r>
          </a:p>
          <a:p>
            <a:endParaRPr lang="en-US" sz="1050">
              <a:solidFill>
                <a:srgbClr val="94A3B8"/>
              </a:solidFill>
              <a:latin typeface="Segoe UI" panose="020B0502040204020203" pitchFamily="34" charset="0"/>
            </a:endParaRPr>
          </a:p>
          <a:p>
            <a:r>
              <a:rPr lang="en-US" sz="1050">
                <a:solidFill>
                  <a:srgbClr val="94A3B8"/>
                </a:solidFill>
                <a:latin typeface="Segoe UI" panose="020B0502040204020203" pitchFamily="34" charset="0"/>
              </a:rPr>
              <a:t>* Biologically Impossible Zeros Imputation:</a:t>
            </a:r>
          </a:p>
          <a:p>
            <a:r>
              <a:rPr lang="en-US" sz="1050">
                <a:solidFill>
                  <a:srgbClr val="94A3B8"/>
                </a:solidFill>
                <a:latin typeface="Segoe UI" panose="020B0502040204020203" pitchFamily="34" charset="0"/>
              </a:rPr>
              <a:t>  Features like Glucose, Blood Pressure, Skin Thickness, Insulin, and BMI had recorded values of 0 (physiologically invalid).</a:t>
            </a:r>
          </a:p>
          <a:p>
            <a:r>
              <a:rPr lang="en-US" sz="1050">
                <a:solidFill>
                  <a:srgbClr val="94A3B8"/>
                </a:solidFill>
                <a:latin typeface="Segoe UI" panose="020B0502040204020203" pitchFamily="34" charset="0"/>
              </a:rPr>
              <a:t>  -&gt; Handled by replacing 0 with NaN, then imputing with feature-specific column medians.</a:t>
            </a:r>
          </a:p>
          <a:p>
            <a:endParaRPr lang="en-US" sz="1050">
              <a:solidFill>
                <a:srgbClr val="94A3B8"/>
              </a:solidFill>
              <a:latin typeface="Segoe UI" panose="020B0502040204020203" pitchFamily="34" charset="0"/>
            </a:endParaRPr>
          </a:p>
          <a:p>
            <a:r>
              <a:rPr lang="en-US" sz="1050">
                <a:solidFill>
                  <a:srgbClr val="94A3B8"/>
                </a:solidFill>
                <a:latin typeface="Segoe UI" panose="020B0502040204020203" pitchFamily="34" charset="0"/>
              </a:rPr>
              <a:t>* Normalization &amp; Splitting:</a:t>
            </a:r>
          </a:p>
          <a:p>
            <a:r>
              <a:rPr lang="en-US" sz="1050">
                <a:solidFill>
                  <a:srgbClr val="94A3B8"/>
                </a:solidFill>
                <a:latin typeface="Segoe UI" panose="020B0502040204020203" pitchFamily="34" charset="0"/>
              </a:rPr>
              <a:t>  Applied StandardScaler normalization. Split using an 80/20 stratified split to preserve class distribution.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0DFC1A4D-6550-47EF-A77F-BB0BE8E2698C}"/>
              </a:ext>
            </a:extLst>
          </p:cNvPr>
          <p:cNvSpPr/>
          <p:nvPr/>
        </p:nvSpPr>
        <p:spPr>
          <a:xfrm>
            <a:off x="6261100" y="1206500"/>
            <a:ext cx="5359400" cy="4889500"/>
          </a:xfrm>
          <a:prstGeom prst="roundRect">
            <a:avLst/>
          </a:prstGeom>
          <a:solidFill>
            <a:srgbClr val="151E2E"/>
          </a:solidFill>
          <a:ln w="12700">
            <a:solidFill>
              <a:srgbClr val="2A385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28600" tIns="203200" rIns="228600" bIns="152400" rtlCol="0" anchor="ctr"/>
          <a:lstStyle/>
          <a:p>
            <a:r>
              <a:rPr lang="en-US" sz="1350" b="1">
                <a:solidFill>
                  <a:srgbClr val="38BDF8"/>
                </a:solidFill>
                <a:latin typeface="Segoe UI" panose="020B0502040204020203" pitchFamily="34" charset="0"/>
              </a:rPr>
              <a:t>Clinical Features (8 Predictors)</a:t>
            </a:r>
          </a:p>
          <a:p>
            <a:endParaRPr lang="en-US" sz="1050">
              <a:solidFill>
                <a:srgbClr val="F8FAFC"/>
              </a:solidFill>
              <a:latin typeface="Segoe UI" panose="020B0502040204020203" pitchFamily="34" charset="0"/>
            </a:endParaRPr>
          </a:p>
          <a:p>
            <a:r>
              <a:rPr lang="en-US" sz="1050">
                <a:solidFill>
                  <a:srgbClr val="F8FAFC"/>
                </a:solidFill>
                <a:latin typeface="Segoe UI" panose="020B0502040204020203" pitchFamily="34" charset="0"/>
              </a:rPr>
              <a:t>1. Pregnancies: Total number of gestation cycles</a:t>
            </a:r>
          </a:p>
          <a:p>
            <a:endParaRPr lang="en-US" sz="1050">
              <a:solidFill>
                <a:srgbClr val="F8FAFC"/>
              </a:solidFill>
              <a:latin typeface="Segoe UI" panose="020B0502040204020203" pitchFamily="34" charset="0"/>
            </a:endParaRPr>
          </a:p>
          <a:p>
            <a:r>
              <a:rPr lang="en-US" sz="1050">
                <a:solidFill>
                  <a:srgbClr val="F8FAFC"/>
                </a:solidFill>
                <a:latin typeface="Segoe UI" panose="020B0502040204020203" pitchFamily="34" charset="0"/>
              </a:rPr>
              <a:t>2. Glucose: 2-hour plasma glucose concentration (mg/dL)</a:t>
            </a:r>
          </a:p>
          <a:p>
            <a:endParaRPr lang="en-US" sz="1050">
              <a:solidFill>
                <a:srgbClr val="F8FAFC"/>
              </a:solidFill>
              <a:latin typeface="Segoe UI" panose="020B0502040204020203" pitchFamily="34" charset="0"/>
            </a:endParaRPr>
          </a:p>
          <a:p>
            <a:r>
              <a:rPr lang="en-US" sz="1050">
                <a:solidFill>
                  <a:srgbClr val="F8FAFC"/>
                </a:solidFill>
                <a:latin typeface="Segoe UI" panose="020B0502040204020203" pitchFamily="34" charset="0"/>
              </a:rPr>
              <a:t>3. BloodPressure: Diastolic blood pressure (mm Hg)</a:t>
            </a:r>
          </a:p>
          <a:p>
            <a:endParaRPr lang="en-US" sz="1050">
              <a:solidFill>
                <a:srgbClr val="F8FAFC"/>
              </a:solidFill>
              <a:latin typeface="Segoe UI" panose="020B0502040204020203" pitchFamily="34" charset="0"/>
            </a:endParaRPr>
          </a:p>
          <a:p>
            <a:r>
              <a:rPr lang="en-US" sz="1050">
                <a:solidFill>
                  <a:srgbClr val="F8FAFC"/>
                </a:solidFill>
                <a:latin typeface="Segoe UI" panose="020B0502040204020203" pitchFamily="34" charset="0"/>
              </a:rPr>
              <a:t>4. SkinThickness: Triceps skinfold measurement (mm)</a:t>
            </a:r>
          </a:p>
          <a:p>
            <a:endParaRPr lang="en-US" sz="1050">
              <a:solidFill>
                <a:srgbClr val="F8FAFC"/>
              </a:solidFill>
              <a:latin typeface="Segoe UI" panose="020B0502040204020203" pitchFamily="34" charset="0"/>
            </a:endParaRPr>
          </a:p>
          <a:p>
            <a:r>
              <a:rPr lang="en-US" sz="1050">
                <a:solidFill>
                  <a:srgbClr val="F8FAFC"/>
                </a:solidFill>
                <a:latin typeface="Segoe UI" panose="020B0502040204020203" pitchFamily="34" charset="0"/>
              </a:rPr>
              <a:t>5. Insulin: 2-Hour serum insulin level (uU/mL)</a:t>
            </a:r>
          </a:p>
          <a:p>
            <a:endParaRPr lang="en-US" sz="1050">
              <a:solidFill>
                <a:srgbClr val="F8FAFC"/>
              </a:solidFill>
              <a:latin typeface="Segoe UI" panose="020B0502040204020203" pitchFamily="34" charset="0"/>
            </a:endParaRPr>
          </a:p>
          <a:p>
            <a:r>
              <a:rPr lang="en-US" sz="1050">
                <a:solidFill>
                  <a:srgbClr val="F8FAFC"/>
                </a:solidFill>
                <a:latin typeface="Segoe UI" panose="020B0502040204020203" pitchFamily="34" charset="0"/>
              </a:rPr>
              <a:t>6. BMI: Body Mass Index (weight in kg / (height in m)^2)</a:t>
            </a:r>
          </a:p>
          <a:p>
            <a:endParaRPr lang="en-US" sz="1050">
              <a:solidFill>
                <a:srgbClr val="F8FAFC"/>
              </a:solidFill>
              <a:latin typeface="Segoe UI" panose="020B0502040204020203" pitchFamily="34" charset="0"/>
            </a:endParaRPr>
          </a:p>
          <a:p>
            <a:r>
              <a:rPr lang="en-US" sz="1050">
                <a:solidFill>
                  <a:srgbClr val="F8FAFC"/>
                </a:solidFill>
                <a:latin typeface="Segoe UI" panose="020B0502040204020203" pitchFamily="34" charset="0"/>
              </a:rPr>
              <a:t>7. DiabetesPedigree: Genetic predisposition score</a:t>
            </a:r>
          </a:p>
          <a:p>
            <a:endParaRPr lang="en-US" sz="1050">
              <a:solidFill>
                <a:srgbClr val="F8FAFC"/>
              </a:solidFill>
              <a:latin typeface="Segoe UI" panose="020B0502040204020203" pitchFamily="34" charset="0"/>
            </a:endParaRPr>
          </a:p>
          <a:p>
            <a:r>
              <a:rPr lang="en-US" sz="1050">
                <a:solidFill>
                  <a:srgbClr val="F8FAFC"/>
                </a:solidFill>
                <a:latin typeface="Segoe UI" panose="020B0502040204020203" pitchFamily="34" charset="0"/>
              </a:rPr>
              <a:t>8. Age: Patient age in completed years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D161339-BF90-4AB6-9391-1EB12C8AACD0}"/>
              </a:ext>
            </a:extLst>
          </p:cNvPr>
          <p:cNvSpPr txBox="1"/>
          <p:nvPr/>
        </p:nvSpPr>
        <p:spPr>
          <a:xfrm>
            <a:off x="571500" y="6375400"/>
            <a:ext cx="5715000" cy="184666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US" sz="900">
                <a:solidFill>
                  <a:srgbClr val="94A3B8"/>
                </a:solidFill>
                <a:latin typeface="Segoe UI" panose="020B0502040204020203" pitchFamily="34" charset="0"/>
              </a:rPr>
              <a:t>Essentials of AI - Group Project | Diabetes Risk &amp; Lifestyle Advisor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FF50292-E5C5-4247-8CAE-1A0050D33C5D}"/>
              </a:ext>
            </a:extLst>
          </p:cNvPr>
          <p:cNvSpPr txBox="1"/>
          <p:nvPr/>
        </p:nvSpPr>
        <p:spPr>
          <a:xfrm>
            <a:off x="6604000" y="6375400"/>
            <a:ext cx="3556000" cy="184666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US" sz="900" b="1">
                <a:solidFill>
                  <a:srgbClr val="38BDF8"/>
                </a:solidFill>
                <a:latin typeface="Segoe UI" panose="020B0502040204020203" pitchFamily="34" charset="0"/>
              </a:rPr>
              <a:t>Speaker: Member 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EB5B5BC-934D-4C32-96BE-762FDD70B2FD}"/>
              </a:ext>
            </a:extLst>
          </p:cNvPr>
          <p:cNvSpPr txBox="1"/>
          <p:nvPr/>
        </p:nvSpPr>
        <p:spPr>
          <a:xfrm>
            <a:off x="10668000" y="6375400"/>
            <a:ext cx="952500" cy="184666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pPr algn="r"/>
            <a:r>
              <a:rPr lang="en-US" sz="900">
                <a:solidFill>
                  <a:srgbClr val="94A3B8"/>
                </a:solidFill>
                <a:latin typeface="Segoe UI" panose="020B0502040204020203" pitchFamily="34" charset="0"/>
              </a:rPr>
              <a:t>3 / 12</a:t>
            </a:r>
          </a:p>
        </p:txBody>
      </p:sp>
    </p:spTree>
    <p:extLst>
      <p:ext uri="{BB962C8B-B14F-4D97-AF65-F5344CB8AC3E}">
        <p14:creationId xmlns:p14="http://schemas.microsoft.com/office/powerpoint/2010/main" val="27765447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E990878-53BC-4D1F-BFDE-EFD3801C835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0F1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0CDD87C-717F-4F92-AED4-DBB162AB425F}"/>
              </a:ext>
            </a:extLst>
          </p:cNvPr>
          <p:cNvSpPr txBox="1"/>
          <p:nvPr/>
        </p:nvSpPr>
        <p:spPr>
          <a:xfrm>
            <a:off x="571500" y="254000"/>
            <a:ext cx="6350000" cy="192360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US" sz="950" b="1">
                <a:solidFill>
                  <a:srgbClr val="C084FC"/>
                </a:solidFill>
                <a:latin typeface="Segoe UI" panose="020B0502040204020203" pitchFamily="34" charset="0"/>
              </a:rPr>
              <a:t>MULTI-STAGE PIPELINE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A3621C2-6C66-4808-A70E-F4708001A7CA}"/>
              </a:ext>
            </a:extLst>
          </p:cNvPr>
          <p:cNvSpPr txBox="1"/>
          <p:nvPr/>
        </p:nvSpPr>
        <p:spPr>
          <a:xfrm>
            <a:off x="571500" y="482600"/>
            <a:ext cx="10795000" cy="369332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US" sz="2100" b="1">
                <a:solidFill>
                  <a:srgbClr val="F8FAFC"/>
                </a:solidFill>
                <a:latin typeface="Segoe UI" panose="020B0502040204020203" pitchFamily="34" charset="0"/>
              </a:rPr>
              <a:t>System Architecture &amp; End-to-End Pipeline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7BBE921-CED7-4890-A6B0-2387236D135E}"/>
              </a:ext>
            </a:extLst>
          </p:cNvPr>
          <p:cNvSpPr/>
          <p:nvPr/>
        </p:nvSpPr>
        <p:spPr>
          <a:xfrm>
            <a:off x="571500" y="990600"/>
            <a:ext cx="698500" cy="38100"/>
          </a:xfrm>
          <a:prstGeom prst="rect">
            <a:avLst/>
          </a:prstGeom>
          <a:solidFill>
            <a:srgbClr val="C084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9469D68-BE8C-4753-AB8E-8E82183FCAC3}"/>
              </a:ext>
            </a:extLst>
          </p:cNvPr>
          <p:cNvSpPr/>
          <p:nvPr/>
        </p:nvSpPr>
        <p:spPr>
          <a:xfrm>
            <a:off x="571500" y="1206500"/>
            <a:ext cx="3454400" cy="1905000"/>
          </a:xfrm>
          <a:prstGeom prst="roundRect">
            <a:avLst/>
          </a:prstGeom>
          <a:solidFill>
            <a:srgbClr val="10233C"/>
          </a:solidFill>
          <a:ln w="12700">
            <a:solidFill>
              <a:srgbClr val="38BDF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77800" tIns="152400" rIns="177800" bIns="152400" rtlCol="0" anchor="ctr"/>
          <a:lstStyle/>
          <a:p>
            <a:r>
              <a:rPr lang="en-US" sz="1050" b="1">
                <a:solidFill>
                  <a:srgbClr val="38BDF8"/>
                </a:solidFill>
                <a:latin typeface="Segoe UI" panose="020B0502040204020203" pitchFamily="34" charset="0"/>
              </a:rPr>
              <a:t>STAGE 1: NEURAL NETWORK</a:t>
            </a:r>
          </a:p>
          <a:p>
            <a:r>
              <a:rPr lang="en-US" sz="1050">
                <a:solidFill>
                  <a:srgbClr val="F8FAFC"/>
                </a:solidFill>
                <a:latin typeface="Segoe UI" panose="020B0502040204020203" pitchFamily="34" charset="0"/>
              </a:rPr>
              <a:t>Model: MLPClassifier (scikit-learn)</a:t>
            </a:r>
          </a:p>
          <a:p>
            <a:endParaRPr lang="en-US" sz="1050">
              <a:solidFill>
                <a:srgbClr val="F8FAFC"/>
              </a:solidFill>
              <a:latin typeface="Segoe UI" panose="020B0502040204020203" pitchFamily="34" charset="0"/>
            </a:endParaRPr>
          </a:p>
          <a:p>
            <a:r>
              <a:rPr lang="en-US" sz="1050">
                <a:solidFill>
                  <a:srgbClr val="F8FAFC"/>
                </a:solidFill>
                <a:latin typeface="Segoe UI" panose="020B0502040204020203" pitchFamily="34" charset="0"/>
              </a:rPr>
              <a:t>* Takes 8 normalized vitals</a:t>
            </a:r>
          </a:p>
          <a:p>
            <a:r>
              <a:rPr lang="en-US" sz="1050">
                <a:solidFill>
                  <a:srgbClr val="F8FAFC"/>
                </a:solidFill>
                <a:latin typeface="Segoe UI" panose="020B0502040204020203" pitchFamily="34" charset="0"/>
              </a:rPr>
              <a:t>* 2 Hidden Layers (16, 8 neurons)</a:t>
            </a:r>
          </a:p>
          <a:p>
            <a:r>
              <a:rPr lang="en-US" sz="1050">
                <a:solidFill>
                  <a:srgbClr val="F8FAFC"/>
                </a:solidFill>
                <a:latin typeface="Segoe UI" panose="020B0502040204020203" pitchFamily="34" charset="0"/>
              </a:rPr>
              <a:t>* Output: Risk Probability (0.0 - 1.0)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C00415D9-210B-4E8E-9EAE-3E9FAE35533C}"/>
              </a:ext>
            </a:extLst>
          </p:cNvPr>
          <p:cNvSpPr/>
          <p:nvPr/>
        </p:nvSpPr>
        <p:spPr>
          <a:xfrm>
            <a:off x="4368800" y="1206500"/>
            <a:ext cx="3454400" cy="1905000"/>
          </a:xfrm>
          <a:prstGeom prst="roundRect">
            <a:avLst/>
          </a:prstGeom>
          <a:solidFill>
            <a:srgbClr val="0E281C"/>
          </a:solidFill>
          <a:ln w="12700">
            <a:solidFill>
              <a:srgbClr val="4ADE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77800" tIns="152400" rIns="177800" bIns="152400" rtlCol="0" anchor="ctr"/>
          <a:lstStyle/>
          <a:p>
            <a:r>
              <a:rPr lang="en-US" sz="1050" b="1">
                <a:solidFill>
                  <a:srgbClr val="4ADE80"/>
                </a:solidFill>
                <a:latin typeface="Segoe UI" panose="020B0502040204020203" pitchFamily="34" charset="0"/>
              </a:rPr>
              <a:t>STAGE 2: FUZZY LOGIC</a:t>
            </a:r>
          </a:p>
          <a:p>
            <a:r>
              <a:rPr lang="en-US" sz="1050">
                <a:solidFill>
                  <a:srgbClr val="F8FAFC"/>
                </a:solidFill>
                <a:latin typeface="Segoe UI" panose="020B0502040204020203" pitchFamily="34" charset="0"/>
              </a:rPr>
              <a:t>Engine: scikit-fuzzy (skfuzzy)</a:t>
            </a:r>
          </a:p>
          <a:p>
            <a:endParaRPr lang="en-US" sz="1050">
              <a:solidFill>
                <a:srgbClr val="F8FAFC"/>
              </a:solidFill>
              <a:latin typeface="Segoe UI" panose="020B0502040204020203" pitchFamily="34" charset="0"/>
            </a:endParaRPr>
          </a:p>
          <a:p>
            <a:r>
              <a:rPr lang="en-US" sz="1050">
                <a:solidFill>
                  <a:srgbClr val="F8FAFC"/>
                </a:solidFill>
                <a:latin typeface="Segoe UI" panose="020B0502040204020203" pitchFamily="34" charset="0"/>
              </a:rPr>
              <a:t>* Combines Risk Prob + BMI + Activity</a:t>
            </a:r>
          </a:p>
          <a:p>
            <a:r>
              <a:rPr lang="en-US" sz="1050">
                <a:solidFill>
                  <a:srgbClr val="F8FAFC"/>
                </a:solidFill>
                <a:latin typeface="Segoe UI" panose="020B0502040204020203" pitchFamily="34" charset="0"/>
              </a:rPr>
              <a:t>* 36 Expert Fuzzy Rules (Centroid)</a:t>
            </a:r>
          </a:p>
          <a:p>
            <a:r>
              <a:rPr lang="en-US" sz="1050">
                <a:solidFill>
                  <a:srgbClr val="F8FAFC"/>
                </a:solidFill>
                <a:latin typeface="Segoe UI" panose="020B0502040204020203" pitchFamily="34" charset="0"/>
              </a:rPr>
              <a:t>* Output: Risk Category (0 - 100)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0C0E2AD9-1FD4-45F9-9703-EF99258404B5}"/>
              </a:ext>
            </a:extLst>
          </p:cNvPr>
          <p:cNvSpPr/>
          <p:nvPr/>
        </p:nvSpPr>
        <p:spPr>
          <a:xfrm>
            <a:off x="8166100" y="1206500"/>
            <a:ext cx="3454400" cy="1905000"/>
          </a:xfrm>
          <a:prstGeom prst="roundRect">
            <a:avLst/>
          </a:prstGeom>
          <a:solidFill>
            <a:srgbClr val="2A1C0E"/>
          </a:solidFill>
          <a:ln w="12700">
            <a:solidFill>
              <a:srgbClr val="FBBF2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77800" tIns="152400" rIns="177800" bIns="152400" rtlCol="0" anchor="ctr"/>
          <a:lstStyle/>
          <a:p>
            <a:r>
              <a:rPr lang="en-US" sz="1050" b="1">
                <a:solidFill>
                  <a:srgbClr val="FBBF24"/>
                </a:solidFill>
                <a:latin typeface="Segoe UI" panose="020B0502040204020203" pitchFamily="34" charset="0"/>
              </a:rPr>
              <a:t>STAGE 3: RULE-BASED ENGINE</a:t>
            </a:r>
          </a:p>
          <a:p>
            <a:r>
              <a:rPr lang="en-US" sz="1050">
                <a:solidFill>
                  <a:srgbClr val="F8FAFC"/>
                </a:solidFill>
                <a:latin typeface="Segoe UI" panose="020B0502040204020203" pitchFamily="34" charset="0"/>
              </a:rPr>
              <a:t>Advisor: Python Expert Rules</a:t>
            </a:r>
          </a:p>
          <a:p>
            <a:endParaRPr lang="en-US" sz="1050">
              <a:solidFill>
                <a:srgbClr val="F8FAFC"/>
              </a:solidFill>
              <a:latin typeface="Segoe UI" panose="020B0502040204020203" pitchFamily="34" charset="0"/>
            </a:endParaRPr>
          </a:p>
          <a:p>
            <a:r>
              <a:rPr lang="en-US" sz="1050">
                <a:solidFill>
                  <a:srgbClr val="F8FAFC"/>
                </a:solidFill>
                <a:latin typeface="Segoe UI" panose="020B0502040204020203" pitchFamily="34" charset="0"/>
              </a:rPr>
              <a:t>* 4 Risk Tiers (Low to Severe)</a:t>
            </a:r>
          </a:p>
          <a:p>
            <a:r>
              <a:rPr lang="en-US" sz="1050">
                <a:solidFill>
                  <a:srgbClr val="F8FAFC"/>
                </a:solidFill>
                <a:latin typeface="Segoe UI" panose="020B0502040204020203" pitchFamily="34" charset="0"/>
              </a:rPr>
              <a:t>* 6 Patient Metric Modifiers</a:t>
            </a:r>
          </a:p>
          <a:p>
            <a:r>
              <a:rPr lang="en-US" sz="1050">
                <a:solidFill>
                  <a:srgbClr val="F8FAFC"/>
                </a:solidFill>
                <a:latin typeface="Segoe UI" panose="020B0502040204020203" pitchFamily="34" charset="0"/>
              </a:rPr>
              <a:t>* Output: Tailored Advice + Disclaimer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B74331A1-1A2C-42F6-A52B-997BC9A2AE0E}"/>
              </a:ext>
            </a:extLst>
          </p:cNvPr>
          <p:cNvSpPr/>
          <p:nvPr/>
        </p:nvSpPr>
        <p:spPr>
          <a:xfrm>
            <a:off x="571500" y="3365500"/>
            <a:ext cx="3454400" cy="2730500"/>
          </a:xfrm>
          <a:prstGeom prst="roundRect">
            <a:avLst/>
          </a:prstGeom>
          <a:solidFill>
            <a:srgbClr val="151E2E"/>
          </a:solidFill>
          <a:ln w="12700">
            <a:solidFill>
              <a:srgbClr val="2A385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77800" tIns="177800" rIns="177800" bIns="152400" rtlCol="0" anchor="ctr"/>
          <a:lstStyle/>
          <a:p>
            <a:r>
              <a:rPr lang="en-US" sz="1100" b="1">
                <a:solidFill>
                  <a:srgbClr val="38BDF8"/>
                </a:solidFill>
                <a:latin typeface="Segoe UI" panose="020B0502040204020203" pitchFamily="34" charset="0"/>
              </a:rPr>
              <a:t>Data-Driven Prediction</a:t>
            </a:r>
          </a:p>
          <a:p>
            <a:endParaRPr lang="en-US" sz="1100">
              <a:solidFill>
                <a:srgbClr val="94A3B8"/>
              </a:solidFill>
              <a:latin typeface="Segoe UI" panose="020B0502040204020203" pitchFamily="34" charset="0"/>
            </a:endParaRPr>
          </a:p>
          <a:p>
            <a:r>
              <a:rPr lang="en-US" sz="1100">
                <a:solidFill>
                  <a:srgbClr val="94A3B8"/>
                </a:solidFill>
                <a:latin typeface="Segoe UI" panose="020B0502040204020203" pitchFamily="34" charset="0"/>
              </a:rPr>
              <a:t>* Learns complex non-linear clinical interactions across 768 patient records.</a:t>
            </a:r>
          </a:p>
          <a:p>
            <a:r>
              <a:rPr lang="en-US" sz="1100">
                <a:solidFill>
                  <a:srgbClr val="94A3B8"/>
                </a:solidFill>
                <a:latin typeface="Segoe UI" panose="020B0502040204020203" pitchFamily="34" charset="0"/>
              </a:rPr>
              <a:t>* Provides fine-grained statistical calibration rather than arbitrary rules.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1D899188-4841-4359-8B63-F4FBA5D55A04}"/>
              </a:ext>
            </a:extLst>
          </p:cNvPr>
          <p:cNvSpPr/>
          <p:nvPr/>
        </p:nvSpPr>
        <p:spPr>
          <a:xfrm>
            <a:off x="4368800" y="3365500"/>
            <a:ext cx="3454400" cy="2730500"/>
          </a:xfrm>
          <a:prstGeom prst="roundRect">
            <a:avLst/>
          </a:prstGeom>
          <a:solidFill>
            <a:srgbClr val="151E2E"/>
          </a:solidFill>
          <a:ln w="12700">
            <a:solidFill>
              <a:srgbClr val="2A385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77800" tIns="177800" rIns="177800" bIns="152400" rtlCol="0" anchor="ctr"/>
          <a:lstStyle/>
          <a:p>
            <a:r>
              <a:rPr lang="en-US" sz="1100" b="1">
                <a:solidFill>
                  <a:srgbClr val="4ADE80"/>
                </a:solidFill>
                <a:latin typeface="Segoe UI" panose="020B0502040204020203" pitchFamily="34" charset="0"/>
              </a:rPr>
              <a:t>Nuanced Boundaries</a:t>
            </a:r>
          </a:p>
          <a:p>
            <a:endParaRPr lang="en-US" sz="1100">
              <a:solidFill>
                <a:srgbClr val="94A3B8"/>
              </a:solidFill>
              <a:latin typeface="Segoe UI" panose="020B0502040204020203" pitchFamily="34" charset="0"/>
            </a:endParaRPr>
          </a:p>
          <a:p>
            <a:r>
              <a:rPr lang="en-US" sz="1100">
                <a:solidFill>
                  <a:srgbClr val="94A3B8"/>
                </a:solidFill>
                <a:latin typeface="Segoe UI" panose="020B0502040204020203" pitchFamily="34" charset="0"/>
              </a:rPr>
              <a:t>* Handles gray areas (e.g. BMI 29.8 vs 30.1) using continuous membership curves.</a:t>
            </a:r>
          </a:p>
          <a:p>
            <a:r>
              <a:rPr lang="en-US" sz="1100">
                <a:solidFill>
                  <a:srgbClr val="94A3B8"/>
                </a:solidFill>
                <a:latin typeface="Segoe UI" panose="020B0502040204020203" pitchFamily="34" charset="0"/>
              </a:rPr>
              <a:t>* Balances raw ML risk with physical activity and lifestyle resilience.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CC105CA2-DF93-4561-83F5-BAA95E84C22A}"/>
              </a:ext>
            </a:extLst>
          </p:cNvPr>
          <p:cNvSpPr/>
          <p:nvPr/>
        </p:nvSpPr>
        <p:spPr>
          <a:xfrm>
            <a:off x="8166100" y="3365500"/>
            <a:ext cx="3454400" cy="2730500"/>
          </a:xfrm>
          <a:prstGeom prst="roundRect">
            <a:avLst/>
          </a:prstGeom>
          <a:solidFill>
            <a:srgbClr val="151E2E"/>
          </a:solidFill>
          <a:ln w="12700">
            <a:solidFill>
              <a:srgbClr val="2A385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77800" tIns="177800" rIns="177800" bIns="152400" rtlCol="0" anchor="ctr"/>
          <a:lstStyle/>
          <a:p>
            <a:r>
              <a:rPr lang="en-US" sz="1100" b="1">
                <a:solidFill>
                  <a:srgbClr val="FBBF24"/>
                </a:solidFill>
                <a:latin typeface="Segoe UI" panose="020B0502040204020203" pitchFamily="34" charset="0"/>
              </a:rPr>
              <a:t>Deterministic Actionability</a:t>
            </a:r>
          </a:p>
          <a:p>
            <a:endParaRPr lang="en-US" sz="1100">
              <a:solidFill>
                <a:srgbClr val="94A3B8"/>
              </a:solidFill>
              <a:latin typeface="Segoe UI" panose="020B0502040204020203" pitchFamily="34" charset="0"/>
            </a:endParaRPr>
          </a:p>
          <a:p>
            <a:r>
              <a:rPr lang="en-US" sz="1100">
                <a:solidFill>
                  <a:srgbClr val="94A3B8"/>
                </a:solidFill>
                <a:latin typeface="Segoe UI" panose="020B0502040204020203" pitchFamily="34" charset="0"/>
              </a:rPr>
              <a:t>* Translates risk numbers into clear, practical lifestyle guidelines.</a:t>
            </a:r>
          </a:p>
          <a:p>
            <a:r>
              <a:rPr lang="en-US" sz="1100">
                <a:solidFill>
                  <a:srgbClr val="94A3B8"/>
                </a:solidFill>
                <a:latin typeface="Segoe UI" panose="020B0502040204020203" pitchFamily="34" charset="0"/>
              </a:rPr>
              <a:t>* Guarantees consistent safety disclaimers and medical referrals when vitals spike.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EF368D8-9B2B-4532-B7EE-8E88029E5929}"/>
              </a:ext>
            </a:extLst>
          </p:cNvPr>
          <p:cNvSpPr txBox="1"/>
          <p:nvPr/>
        </p:nvSpPr>
        <p:spPr>
          <a:xfrm>
            <a:off x="571500" y="6375400"/>
            <a:ext cx="5715000" cy="184666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US" sz="900">
                <a:solidFill>
                  <a:srgbClr val="94A3B8"/>
                </a:solidFill>
                <a:latin typeface="Segoe UI" panose="020B0502040204020203" pitchFamily="34" charset="0"/>
              </a:rPr>
              <a:t>Essentials of AI - Group Project | Diabetes Risk &amp; Lifestyle Advisor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13EF98D-B45A-4CC5-8FAC-A338BE2FB602}"/>
              </a:ext>
            </a:extLst>
          </p:cNvPr>
          <p:cNvSpPr txBox="1"/>
          <p:nvPr/>
        </p:nvSpPr>
        <p:spPr>
          <a:xfrm>
            <a:off x="6604000" y="6375400"/>
            <a:ext cx="3556000" cy="184666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US" sz="900" b="1">
                <a:solidFill>
                  <a:srgbClr val="38BDF8"/>
                </a:solidFill>
                <a:latin typeface="Segoe UI" panose="020B0502040204020203" pitchFamily="34" charset="0"/>
              </a:rPr>
              <a:t>Speaker: Member 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C2EA05A-E91E-49C2-AD70-8F8E26F9EA17}"/>
              </a:ext>
            </a:extLst>
          </p:cNvPr>
          <p:cNvSpPr txBox="1"/>
          <p:nvPr/>
        </p:nvSpPr>
        <p:spPr>
          <a:xfrm>
            <a:off x="10668000" y="6375400"/>
            <a:ext cx="952500" cy="184666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pPr algn="r"/>
            <a:r>
              <a:rPr lang="en-US" sz="900">
                <a:solidFill>
                  <a:srgbClr val="94A3B8"/>
                </a:solidFill>
                <a:latin typeface="Segoe UI" panose="020B0502040204020203" pitchFamily="34" charset="0"/>
              </a:rPr>
              <a:t>4 / 12</a:t>
            </a:r>
          </a:p>
        </p:txBody>
      </p:sp>
    </p:spTree>
    <p:extLst>
      <p:ext uri="{BB962C8B-B14F-4D97-AF65-F5344CB8AC3E}">
        <p14:creationId xmlns:p14="http://schemas.microsoft.com/office/powerpoint/2010/main" val="32292253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0816DB5-E2CA-4598-8C05-68192B05377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0F1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55E2BEB-9AD2-4A4B-A364-28E28A85CDBD}"/>
              </a:ext>
            </a:extLst>
          </p:cNvPr>
          <p:cNvSpPr txBox="1"/>
          <p:nvPr/>
        </p:nvSpPr>
        <p:spPr>
          <a:xfrm>
            <a:off x="571500" y="254000"/>
            <a:ext cx="6350000" cy="192360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US" sz="950" b="1">
                <a:solidFill>
                  <a:srgbClr val="38BDF8"/>
                </a:solidFill>
                <a:latin typeface="Segoe UI" panose="020B0502040204020203" pitchFamily="34" charset="0"/>
              </a:rPr>
              <a:t>STAGE 1: PREDICTIVE MODELING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1DBEB4F-91F7-4ED7-AA3C-C0CBA65515CD}"/>
              </a:ext>
            </a:extLst>
          </p:cNvPr>
          <p:cNvSpPr txBox="1"/>
          <p:nvPr/>
        </p:nvSpPr>
        <p:spPr>
          <a:xfrm>
            <a:off x="571500" y="482600"/>
            <a:ext cx="10795000" cy="369332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US" sz="2100" b="1">
                <a:solidFill>
                  <a:srgbClr val="F8FAFC"/>
                </a:solidFill>
                <a:latin typeface="Segoe UI" panose="020B0502040204020203" pitchFamily="34" charset="0"/>
              </a:rPr>
              <a:t>Neural Network Model Architecture &amp; Training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3B9F84A-044D-414A-B82D-A7D884DDACC5}"/>
              </a:ext>
            </a:extLst>
          </p:cNvPr>
          <p:cNvSpPr/>
          <p:nvPr/>
        </p:nvSpPr>
        <p:spPr>
          <a:xfrm>
            <a:off x="571500" y="990600"/>
            <a:ext cx="698500" cy="38100"/>
          </a:xfrm>
          <a:prstGeom prst="rect">
            <a:avLst/>
          </a:prstGeom>
          <a:solidFill>
            <a:srgbClr val="38BDF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9A1AFE6B-E261-40BC-B52B-C7043830DBEC}"/>
              </a:ext>
            </a:extLst>
          </p:cNvPr>
          <p:cNvSpPr/>
          <p:nvPr/>
        </p:nvSpPr>
        <p:spPr>
          <a:xfrm>
            <a:off x="571500" y="1206500"/>
            <a:ext cx="5359400" cy="4889500"/>
          </a:xfrm>
          <a:prstGeom prst="roundRect">
            <a:avLst/>
          </a:prstGeom>
          <a:solidFill>
            <a:srgbClr val="151E2E"/>
          </a:solidFill>
          <a:ln w="12700">
            <a:solidFill>
              <a:srgbClr val="2A385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28600" tIns="203200" rIns="228600" bIns="152400" rtlCol="0" anchor="ctr"/>
          <a:lstStyle/>
          <a:p>
            <a:r>
              <a:rPr lang="en-US" sz="1350" b="1">
                <a:solidFill>
                  <a:srgbClr val="38BDF8"/>
                </a:solidFill>
                <a:latin typeface="Segoe UI" panose="020B0502040204020203" pitchFamily="34" charset="0"/>
              </a:rPr>
              <a:t>Model Specifications (MLPClassifier)</a:t>
            </a:r>
          </a:p>
          <a:p>
            <a:endParaRPr lang="en-US" sz="1050">
              <a:solidFill>
                <a:srgbClr val="F8FAFC"/>
              </a:solidFill>
              <a:latin typeface="Segoe UI" panose="020B0502040204020203" pitchFamily="34" charset="0"/>
            </a:endParaRPr>
          </a:p>
          <a:p>
            <a:r>
              <a:rPr lang="en-US" sz="1050">
                <a:solidFill>
                  <a:srgbClr val="F8FAFC"/>
                </a:solidFill>
                <a:latin typeface="Segoe UI" panose="020B0502040204020203" pitchFamily="34" charset="0"/>
              </a:rPr>
              <a:t>* Model Framework:</a:t>
            </a:r>
          </a:p>
          <a:p>
            <a:r>
              <a:rPr lang="en-US" sz="1050">
                <a:solidFill>
                  <a:srgbClr val="F8FAFC"/>
                </a:solidFill>
                <a:latin typeface="Segoe UI" panose="020B0502040204020203" pitchFamily="34" charset="0"/>
              </a:rPr>
              <a:t>  scikit-learn MLPClassifier (Multi-Layer Perceptron)</a:t>
            </a:r>
          </a:p>
          <a:p>
            <a:endParaRPr lang="en-US" sz="1050">
              <a:solidFill>
                <a:srgbClr val="F8FAFC"/>
              </a:solidFill>
              <a:latin typeface="Segoe UI" panose="020B0502040204020203" pitchFamily="34" charset="0"/>
            </a:endParaRPr>
          </a:p>
          <a:p>
            <a:r>
              <a:rPr lang="en-US" sz="1050">
                <a:solidFill>
                  <a:srgbClr val="F8FAFC"/>
                </a:solidFill>
                <a:latin typeface="Segoe UI" panose="020B0502040204020203" pitchFamily="34" charset="0"/>
              </a:rPr>
              <a:t>* Network Topology:</a:t>
            </a:r>
          </a:p>
          <a:p>
            <a:r>
              <a:rPr lang="en-US" sz="1050">
                <a:solidFill>
                  <a:srgbClr val="F8FAFC"/>
                </a:solidFill>
                <a:latin typeface="Segoe UI" panose="020B0502040204020203" pitchFamily="34" charset="0"/>
              </a:rPr>
              <a:t>  - Input Layer: 8 neurons (standardized clinical features)</a:t>
            </a:r>
          </a:p>
          <a:p>
            <a:r>
              <a:rPr lang="en-US" sz="1050">
                <a:solidFill>
                  <a:srgbClr val="F8FAFC"/>
                </a:solidFill>
                <a:latin typeface="Segoe UI" panose="020B0502040204020203" pitchFamily="34" charset="0"/>
              </a:rPr>
              <a:t>  - Hidden Layer 1: 16 neurons with ReLU activation</a:t>
            </a:r>
          </a:p>
          <a:p>
            <a:r>
              <a:rPr lang="en-US" sz="1050">
                <a:solidFill>
                  <a:srgbClr val="F8FAFC"/>
                </a:solidFill>
                <a:latin typeface="Segoe UI" panose="020B0502040204020203" pitchFamily="34" charset="0"/>
              </a:rPr>
              <a:t>  - Hidden Layer 2: 8 neurons with ReLU activation</a:t>
            </a:r>
          </a:p>
          <a:p>
            <a:r>
              <a:rPr lang="en-US" sz="1050">
                <a:solidFill>
                  <a:srgbClr val="F8FAFC"/>
                </a:solidFill>
                <a:latin typeface="Segoe UI" panose="020B0502040204020203" pitchFamily="34" charset="0"/>
              </a:rPr>
              <a:t>  - Output Layer: Single probability score via logistic function</a:t>
            </a:r>
          </a:p>
          <a:p>
            <a:endParaRPr lang="en-US" sz="1050">
              <a:solidFill>
                <a:srgbClr val="F8FAFC"/>
              </a:solidFill>
              <a:latin typeface="Segoe UI" panose="020B0502040204020203" pitchFamily="34" charset="0"/>
            </a:endParaRPr>
          </a:p>
          <a:p>
            <a:r>
              <a:rPr lang="en-US" sz="1050">
                <a:solidFill>
                  <a:srgbClr val="F8FAFC"/>
                </a:solidFill>
                <a:latin typeface="Segoe UI" panose="020B0502040204020203" pitchFamily="34" charset="0"/>
              </a:rPr>
              <a:t>* Optimization &amp; Training:</a:t>
            </a:r>
          </a:p>
          <a:p>
            <a:r>
              <a:rPr lang="en-US" sz="1050">
                <a:solidFill>
                  <a:srgbClr val="F8FAFC"/>
                </a:solidFill>
                <a:latin typeface="Segoe UI" panose="020B0502040204020203" pitchFamily="34" charset="0"/>
              </a:rPr>
              <a:t>  - Solver: Adam (Adaptive Moment Estimation)</a:t>
            </a:r>
          </a:p>
          <a:p>
            <a:r>
              <a:rPr lang="en-US" sz="1050">
                <a:solidFill>
                  <a:srgbClr val="F8FAFC"/>
                </a:solidFill>
                <a:latin typeface="Segoe UI" panose="020B0502040204020203" pitchFamily="34" charset="0"/>
              </a:rPr>
              <a:t>  - Max Iterations: 500 epochs (early convergence)</a:t>
            </a:r>
          </a:p>
          <a:p>
            <a:r>
              <a:rPr lang="en-US" sz="1050">
                <a:solidFill>
                  <a:srgbClr val="F8FAFC"/>
                </a:solidFill>
                <a:latin typeface="Segoe UI" panose="020B0502040204020203" pitchFamily="34" charset="0"/>
              </a:rPr>
              <a:t>  - Reproducibility: Fixed random_state=42</a:t>
            </a:r>
          </a:p>
          <a:p>
            <a:endParaRPr lang="en-US" sz="1050">
              <a:solidFill>
                <a:srgbClr val="F8FAFC"/>
              </a:solidFill>
              <a:latin typeface="Segoe UI" panose="020B0502040204020203" pitchFamily="34" charset="0"/>
            </a:endParaRPr>
          </a:p>
          <a:p>
            <a:r>
              <a:rPr lang="en-US" sz="1050">
                <a:solidFill>
                  <a:srgbClr val="F8FAFC"/>
                </a:solidFill>
                <a:latin typeface="Segoe UI" panose="020B0502040204020203" pitchFamily="34" charset="0"/>
              </a:rPr>
              <a:t>* Continuous Probability Output:</a:t>
            </a:r>
          </a:p>
          <a:p>
            <a:r>
              <a:rPr lang="en-US" sz="1050">
                <a:solidFill>
                  <a:srgbClr val="F8FAFC"/>
                </a:solidFill>
                <a:latin typeface="Segoe UI" panose="020B0502040204020203" pitchFamily="34" charset="0"/>
              </a:rPr>
              <a:t>  Invokes model.predict_proba(X)[0][1] to generate continuous risk (0.0 to 1.0) rather than coarse 0/1 binary labels.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7E7DDE07-3A3D-4AFF-872E-7D7630D460A1}"/>
              </a:ext>
            </a:extLst>
          </p:cNvPr>
          <p:cNvSpPr/>
          <p:nvPr/>
        </p:nvSpPr>
        <p:spPr>
          <a:xfrm>
            <a:off x="6261100" y="1206500"/>
            <a:ext cx="5359400" cy="4889500"/>
          </a:xfrm>
          <a:prstGeom prst="roundRect">
            <a:avLst/>
          </a:prstGeom>
          <a:solidFill>
            <a:srgbClr val="151E2E"/>
          </a:solidFill>
          <a:ln w="12700">
            <a:solidFill>
              <a:srgbClr val="2A385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28600" tIns="203200" rIns="228600" bIns="152400" rtlCol="0" anchor="ctr"/>
          <a:lstStyle/>
          <a:p>
            <a:r>
              <a:rPr lang="en-US" sz="1350" b="1">
                <a:solidFill>
                  <a:srgbClr val="4ADE80"/>
                </a:solidFill>
                <a:latin typeface="Segoe UI" panose="020B0502040204020203" pitchFamily="34" charset="0"/>
              </a:rPr>
              <a:t>Pipeline Integration &amp; Reliability</a:t>
            </a:r>
          </a:p>
          <a:p>
            <a:endParaRPr lang="en-US" sz="1050">
              <a:solidFill>
                <a:srgbClr val="94A3B8"/>
              </a:solidFill>
              <a:latin typeface="Segoe UI" panose="020B0502040204020203" pitchFamily="34" charset="0"/>
            </a:endParaRPr>
          </a:p>
          <a:p>
            <a:r>
              <a:rPr lang="en-US" sz="1050">
                <a:solidFill>
                  <a:srgbClr val="94A3B8"/>
                </a:solidFill>
                <a:latin typeface="Segoe UI" panose="020B0502040204020203" pitchFamily="34" charset="0"/>
              </a:rPr>
              <a:t>* Preprocessing Guarantee:</a:t>
            </a:r>
          </a:p>
          <a:p>
            <a:r>
              <a:rPr lang="en-US" sz="1050">
                <a:solidFill>
                  <a:srgbClr val="94A3B8"/>
                </a:solidFill>
                <a:latin typeface="Segoe UI" panose="020B0502040204020203" pitchFamily="34" charset="0"/>
              </a:rPr>
              <a:t>  Input patient features are scaled using the pre-fit StandardScaler (scaler.pkl) before inference, preventing feature distortion.</a:t>
            </a:r>
          </a:p>
          <a:p>
            <a:endParaRPr lang="en-US" sz="1050">
              <a:solidFill>
                <a:srgbClr val="94A3B8"/>
              </a:solidFill>
              <a:latin typeface="Segoe UI" panose="020B0502040204020203" pitchFamily="34" charset="0"/>
            </a:endParaRPr>
          </a:p>
          <a:p>
            <a:r>
              <a:rPr lang="en-US" sz="1050">
                <a:solidFill>
                  <a:srgbClr val="94A3B8"/>
                </a:solidFill>
                <a:latin typeface="Segoe UI" panose="020B0502040204020203" pitchFamily="34" charset="0"/>
              </a:rPr>
              <a:t>* Model Persistence (joblib):</a:t>
            </a:r>
          </a:p>
          <a:p>
            <a:r>
              <a:rPr lang="en-US" sz="1050">
                <a:solidFill>
                  <a:srgbClr val="94A3B8"/>
                </a:solidFill>
                <a:latin typeface="Segoe UI" panose="020B0502040204020203" pitchFamily="34" charset="0"/>
              </a:rPr>
              <a:t>  - Trained weights saved as model.pkl</a:t>
            </a:r>
          </a:p>
          <a:p>
            <a:r>
              <a:rPr lang="en-US" sz="1050">
                <a:solidFill>
                  <a:srgbClr val="94A3B8"/>
                </a:solidFill>
                <a:latin typeface="Segoe UI" panose="020B0502040204020203" pitchFamily="34" charset="0"/>
              </a:rPr>
              <a:t>  - Fitted scaler saved as scaler.pkl</a:t>
            </a:r>
          </a:p>
          <a:p>
            <a:endParaRPr lang="en-US" sz="1050">
              <a:solidFill>
                <a:srgbClr val="94A3B8"/>
              </a:solidFill>
              <a:latin typeface="Segoe UI" panose="020B0502040204020203" pitchFamily="34" charset="0"/>
            </a:endParaRPr>
          </a:p>
          <a:p>
            <a:r>
              <a:rPr lang="en-US" sz="1050">
                <a:solidFill>
                  <a:srgbClr val="94A3B8"/>
                </a:solidFill>
                <a:latin typeface="Segoe UI" panose="020B0502040204020203" pitchFamily="34" charset="0"/>
              </a:rPr>
              <a:t>* Self-Healing Auto-Training:</a:t>
            </a:r>
          </a:p>
          <a:p>
            <a:r>
              <a:rPr lang="en-US" sz="1050">
                <a:solidFill>
                  <a:srgbClr val="94A3B8"/>
                </a:solidFill>
                <a:latin typeface="Segoe UI" panose="020B0502040204020203" pitchFamily="34" charset="0"/>
              </a:rPr>
              <a:t>  If model.pkl or scaler.pkl are absent when the web app initializes, nn_model.py automatically triggers training on diabetes.csv seamlessly.</a:t>
            </a:r>
          </a:p>
          <a:p>
            <a:endParaRPr lang="en-US" sz="1050">
              <a:solidFill>
                <a:srgbClr val="94A3B8"/>
              </a:solidFill>
              <a:latin typeface="Segoe UI" panose="020B0502040204020203" pitchFamily="34" charset="0"/>
            </a:endParaRPr>
          </a:p>
          <a:p>
            <a:r>
              <a:rPr lang="en-US" sz="1050">
                <a:solidFill>
                  <a:srgbClr val="94A3B8"/>
                </a:solidFill>
                <a:latin typeface="Segoe UI" panose="020B0502040204020203" pitchFamily="34" charset="0"/>
              </a:rPr>
              <a:t>* Evaluation Metrics:</a:t>
            </a:r>
          </a:p>
          <a:p>
            <a:r>
              <a:rPr lang="en-US" sz="1050">
                <a:solidFill>
                  <a:srgbClr val="94A3B8"/>
                </a:solidFill>
                <a:latin typeface="Segoe UI" panose="020B0502040204020203" pitchFamily="34" charset="0"/>
              </a:rPr>
              <a:t>  Monitored Accuracy, Precision, Recall, F1 Score, and Confusion Matrix during training to ensure balanced clinical sensitivity.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5ED7060-079A-4BEF-A214-D8C04D3F12AF}"/>
              </a:ext>
            </a:extLst>
          </p:cNvPr>
          <p:cNvSpPr txBox="1"/>
          <p:nvPr/>
        </p:nvSpPr>
        <p:spPr>
          <a:xfrm>
            <a:off x="571500" y="6375400"/>
            <a:ext cx="5715000" cy="184666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US" sz="900">
                <a:solidFill>
                  <a:srgbClr val="94A3B8"/>
                </a:solidFill>
                <a:latin typeface="Segoe UI" panose="020B0502040204020203" pitchFamily="34" charset="0"/>
              </a:rPr>
              <a:t>Essentials of AI - Group Project | Diabetes Risk &amp; Lifestyle Advisor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7152A5D-FB57-441D-8FA3-2D749ACEC572}"/>
              </a:ext>
            </a:extLst>
          </p:cNvPr>
          <p:cNvSpPr txBox="1"/>
          <p:nvPr/>
        </p:nvSpPr>
        <p:spPr>
          <a:xfrm>
            <a:off x="6604000" y="6375400"/>
            <a:ext cx="3556000" cy="184666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US" sz="900" b="1">
                <a:solidFill>
                  <a:srgbClr val="38BDF8"/>
                </a:solidFill>
                <a:latin typeface="Segoe UI" panose="020B0502040204020203" pitchFamily="34" charset="0"/>
              </a:rPr>
              <a:t>Speaker: Member 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79CCA11-E1C5-4634-9364-1A08B5D4955A}"/>
              </a:ext>
            </a:extLst>
          </p:cNvPr>
          <p:cNvSpPr txBox="1"/>
          <p:nvPr/>
        </p:nvSpPr>
        <p:spPr>
          <a:xfrm>
            <a:off x="10668000" y="6375400"/>
            <a:ext cx="952500" cy="184666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pPr algn="r"/>
            <a:r>
              <a:rPr lang="en-US" sz="900">
                <a:solidFill>
                  <a:srgbClr val="94A3B8"/>
                </a:solidFill>
                <a:latin typeface="Segoe UI" panose="020B0502040204020203" pitchFamily="34" charset="0"/>
              </a:rPr>
              <a:t>5 / 12</a:t>
            </a:r>
          </a:p>
        </p:txBody>
      </p:sp>
    </p:spTree>
    <p:extLst>
      <p:ext uri="{BB962C8B-B14F-4D97-AF65-F5344CB8AC3E}">
        <p14:creationId xmlns:p14="http://schemas.microsoft.com/office/powerpoint/2010/main" val="42826961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8B2DB61-4AB6-4BBF-B7F8-929E82D0ED1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0F1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AEA4423-7065-4ED2-9AF9-9D7E05032E93}"/>
              </a:ext>
            </a:extLst>
          </p:cNvPr>
          <p:cNvSpPr txBox="1"/>
          <p:nvPr/>
        </p:nvSpPr>
        <p:spPr>
          <a:xfrm>
            <a:off x="571500" y="254000"/>
            <a:ext cx="6350000" cy="192360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US" sz="950" b="1">
                <a:solidFill>
                  <a:srgbClr val="4ADE80"/>
                </a:solidFill>
                <a:latin typeface="Segoe UI" panose="020B0502040204020203" pitchFamily="34" charset="0"/>
              </a:rPr>
              <a:t>STAGE 2: APPROXIMATE REASONING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1CD5DEE-14F3-4FDF-BC9C-E4EAB2783668}"/>
              </a:ext>
            </a:extLst>
          </p:cNvPr>
          <p:cNvSpPr txBox="1"/>
          <p:nvPr/>
        </p:nvSpPr>
        <p:spPr>
          <a:xfrm>
            <a:off x="571500" y="482600"/>
            <a:ext cx="10795000" cy="369332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US" sz="2100" b="1">
                <a:solidFill>
                  <a:srgbClr val="F8FAFC"/>
                </a:solidFill>
                <a:latin typeface="Segoe UI" panose="020B0502040204020203" pitchFamily="34" charset="0"/>
              </a:rPr>
              <a:t>Fuzzy Logic Engine &amp; Nuanced Categorization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4CF353B-329A-45EA-90E4-04401F1EBC14}"/>
              </a:ext>
            </a:extLst>
          </p:cNvPr>
          <p:cNvSpPr/>
          <p:nvPr/>
        </p:nvSpPr>
        <p:spPr>
          <a:xfrm>
            <a:off x="571500" y="990600"/>
            <a:ext cx="698500" cy="38100"/>
          </a:xfrm>
          <a:prstGeom prst="rect">
            <a:avLst/>
          </a:prstGeom>
          <a:solidFill>
            <a:srgbClr val="4ADE8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A5E288A-5295-4CBD-8EF3-CCEA263AE083}"/>
              </a:ext>
            </a:extLst>
          </p:cNvPr>
          <p:cNvSpPr/>
          <p:nvPr/>
        </p:nvSpPr>
        <p:spPr>
          <a:xfrm>
            <a:off x="571500" y="1206500"/>
            <a:ext cx="5359400" cy="4889500"/>
          </a:xfrm>
          <a:prstGeom prst="roundRect">
            <a:avLst/>
          </a:prstGeom>
          <a:solidFill>
            <a:srgbClr val="151E2E"/>
          </a:solidFill>
          <a:ln w="12700">
            <a:solidFill>
              <a:srgbClr val="2A385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28600" tIns="203200" rIns="228600" bIns="152400" rtlCol="0" anchor="ctr"/>
          <a:lstStyle/>
          <a:p>
            <a:r>
              <a:rPr lang="en-US" sz="1350" b="1">
                <a:solidFill>
                  <a:srgbClr val="4ADE80"/>
                </a:solidFill>
                <a:latin typeface="Segoe UI" panose="020B0502040204020203" pitchFamily="34" charset="0"/>
              </a:rPr>
              <a:t>Why Fuzzy Logic &amp; Input Variables</a:t>
            </a:r>
          </a:p>
          <a:p>
            <a:endParaRPr lang="en-US" sz="1050">
              <a:solidFill>
                <a:srgbClr val="F8FAFC"/>
              </a:solidFill>
              <a:latin typeface="Segoe UI" panose="020B0502040204020203" pitchFamily="34" charset="0"/>
            </a:endParaRPr>
          </a:p>
          <a:p>
            <a:r>
              <a:rPr lang="en-US" sz="1050">
                <a:solidFill>
                  <a:srgbClr val="F8FAFC"/>
                </a:solidFill>
                <a:latin typeface="Segoe UI" panose="020B0502040204020203" pitchFamily="34" charset="0"/>
              </a:rPr>
              <a:t>* Solving the Crisp Boundary Problem:</a:t>
            </a:r>
          </a:p>
          <a:p>
            <a:r>
              <a:rPr lang="en-US" sz="1050">
                <a:solidFill>
                  <a:srgbClr val="F8FAFC"/>
                </a:solidFill>
                <a:latin typeface="Segoe UI" panose="020B0502040204020203" pitchFamily="34" charset="0"/>
              </a:rPr>
              <a:t>  Real-world risk isn't black or white. A patient with BMI 29.9 and another with 30.1 are virtually identical clinically. Fuzzy logic enables continuous degrees of membership.</a:t>
            </a:r>
          </a:p>
          <a:p>
            <a:endParaRPr lang="en-US" sz="1050">
              <a:solidFill>
                <a:srgbClr val="F8FAFC"/>
              </a:solidFill>
              <a:latin typeface="Segoe UI" panose="020B0502040204020203" pitchFamily="34" charset="0"/>
            </a:endParaRPr>
          </a:p>
          <a:p>
            <a:r>
              <a:rPr lang="en-US" sz="1050">
                <a:solidFill>
                  <a:srgbClr val="F8FAFC"/>
                </a:solidFill>
                <a:latin typeface="Segoe UI" panose="020B0502040204020203" pitchFamily="34" charset="0"/>
              </a:rPr>
              <a:t>* 3 Antecedent Variables (Inputs):</a:t>
            </a:r>
          </a:p>
          <a:p>
            <a:r>
              <a:rPr lang="en-US" sz="1050">
                <a:solidFill>
                  <a:srgbClr val="F8FAFC"/>
                </a:solidFill>
                <a:latin typeface="Segoe UI" panose="020B0502040204020203" pitchFamily="34" charset="0"/>
              </a:rPr>
              <a:t>  1. Risk Probability (0.0 to 1.0): [Low, Medium, High]</a:t>
            </a:r>
          </a:p>
          <a:p>
            <a:r>
              <a:rPr lang="en-US" sz="1050">
                <a:solidFill>
                  <a:srgbClr val="F8FAFC"/>
                </a:solidFill>
                <a:latin typeface="Segoe UI" panose="020B0502040204020203" pitchFamily="34" charset="0"/>
              </a:rPr>
              <a:t>  2. BMI (0 to 60 kg/m2): [Underweight, Normal, Overweight, Obese]</a:t>
            </a:r>
          </a:p>
          <a:p>
            <a:r>
              <a:rPr lang="en-US" sz="1050">
                <a:solidFill>
                  <a:srgbClr val="F8FAFC"/>
                </a:solidFill>
                <a:latin typeface="Segoe UI" panose="020B0502040204020203" pitchFamily="34" charset="0"/>
              </a:rPr>
              <a:t>  3. Activity Level (0 to 10 scale): [Sedentary, Moderate, Active]</a:t>
            </a:r>
          </a:p>
          <a:p>
            <a:endParaRPr lang="en-US" sz="1050">
              <a:solidFill>
                <a:srgbClr val="F8FAFC"/>
              </a:solidFill>
              <a:latin typeface="Segoe UI" panose="020B0502040204020203" pitchFamily="34" charset="0"/>
            </a:endParaRPr>
          </a:p>
          <a:p>
            <a:r>
              <a:rPr lang="en-US" sz="1050">
                <a:solidFill>
                  <a:srgbClr val="F8FAFC"/>
                </a:solidFill>
                <a:latin typeface="Segoe UI" panose="020B0502040204020203" pitchFamily="34" charset="0"/>
              </a:rPr>
              <a:t>* 1 Consequent Variable (Output):</a:t>
            </a:r>
          </a:p>
          <a:p>
            <a:r>
              <a:rPr lang="en-US" sz="1050">
                <a:solidFill>
                  <a:srgbClr val="F8FAFC"/>
                </a:solidFill>
                <a:latin typeface="Segoe UI" panose="020B0502040204020203" pitchFamily="34" charset="0"/>
              </a:rPr>
              <a:t>  Risk Category Score (0 to 100):</a:t>
            </a:r>
          </a:p>
          <a:p>
            <a:r>
              <a:rPr lang="en-US" sz="1050">
                <a:solidFill>
                  <a:srgbClr val="F8FAFC"/>
                </a:solidFill>
                <a:latin typeface="Segoe UI" panose="020B0502040204020203" pitchFamily="34" charset="0"/>
              </a:rPr>
              <a:t>  - Low: Score &lt;= 25    |  - Moderate: Score 25 to 50</a:t>
            </a:r>
          </a:p>
          <a:p>
            <a:r>
              <a:rPr lang="en-US" sz="1050">
                <a:solidFill>
                  <a:srgbClr val="F8FAFC"/>
                </a:solidFill>
                <a:latin typeface="Segoe UI" panose="020B0502040204020203" pitchFamily="34" charset="0"/>
              </a:rPr>
              <a:t>  - High: Score 50 to 75 |  - Severe: Score &gt; 75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4FF60E4-F2C0-4559-9326-0DA18D47F997}"/>
              </a:ext>
            </a:extLst>
          </p:cNvPr>
          <p:cNvSpPr/>
          <p:nvPr/>
        </p:nvSpPr>
        <p:spPr>
          <a:xfrm>
            <a:off x="6261100" y="1206500"/>
            <a:ext cx="5359400" cy="4889500"/>
          </a:xfrm>
          <a:prstGeom prst="roundRect">
            <a:avLst/>
          </a:prstGeom>
          <a:solidFill>
            <a:srgbClr val="151E2E"/>
          </a:solidFill>
          <a:ln w="12700">
            <a:solidFill>
              <a:srgbClr val="2A385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28600" tIns="203200" rIns="228600" bIns="152400" rtlCol="0" anchor="ctr"/>
          <a:lstStyle/>
          <a:p>
            <a:r>
              <a:rPr lang="en-US" sz="1350" b="1">
                <a:solidFill>
                  <a:srgbClr val="38BDF8"/>
                </a:solidFill>
                <a:latin typeface="Segoe UI" panose="020B0502040204020203" pitchFamily="34" charset="0"/>
              </a:rPr>
              <a:t>36 Rules &amp; Computational Robustness</a:t>
            </a:r>
          </a:p>
          <a:p>
            <a:endParaRPr lang="en-US" sz="1050">
              <a:solidFill>
                <a:srgbClr val="94A3B8"/>
              </a:solidFill>
              <a:latin typeface="Segoe UI" panose="020B0502040204020203" pitchFamily="34" charset="0"/>
            </a:endParaRPr>
          </a:p>
          <a:p>
            <a:r>
              <a:rPr lang="en-US" sz="1050">
                <a:solidFill>
                  <a:srgbClr val="94A3B8"/>
                </a:solidFill>
                <a:latin typeface="Segoe UI" panose="020B0502040204020203" pitchFamily="34" charset="0"/>
              </a:rPr>
              <a:t>* 36 Combinatorial Rules:</a:t>
            </a:r>
          </a:p>
          <a:p>
            <a:r>
              <a:rPr lang="en-US" sz="1050">
                <a:solidFill>
                  <a:srgbClr val="94A3B8"/>
                </a:solidFill>
                <a:latin typeface="Segoe UI" panose="020B0502040204020203" pitchFamily="34" charset="0"/>
              </a:rPr>
              <a:t>  Covers all combinations (3 risk levels x 4 BMI categories x 3 activity tiers = 36 rules) to guarantee complete rule coverage.</a:t>
            </a:r>
          </a:p>
          <a:p>
            <a:endParaRPr lang="en-US" sz="1050">
              <a:solidFill>
                <a:srgbClr val="94A3B8"/>
              </a:solidFill>
              <a:latin typeface="Segoe UI" panose="020B0502040204020203" pitchFamily="34" charset="0"/>
            </a:endParaRPr>
          </a:p>
          <a:p>
            <a:r>
              <a:rPr lang="en-US" sz="1050">
                <a:solidFill>
                  <a:srgbClr val="94A3B8"/>
                </a:solidFill>
                <a:latin typeface="Segoe UI" panose="020B0502040204020203" pitchFamily="34" charset="0"/>
              </a:rPr>
              <a:t>* Membership Geometry:</a:t>
            </a:r>
          </a:p>
          <a:p>
            <a:r>
              <a:rPr lang="en-US" sz="1050">
                <a:solidFill>
                  <a:srgbClr val="94A3B8"/>
                </a:solidFill>
                <a:latin typeface="Segoe UI" panose="020B0502040204020203" pitchFamily="34" charset="0"/>
              </a:rPr>
              <a:t>  Uses trapezoidal functions (trapmf) for extreme boundaries and triangular functions (trimf) with overlaps for intermediate zones.</a:t>
            </a:r>
          </a:p>
          <a:p>
            <a:endParaRPr lang="en-US" sz="1050">
              <a:solidFill>
                <a:srgbClr val="94A3B8"/>
              </a:solidFill>
              <a:latin typeface="Segoe UI" panose="020B0502040204020203" pitchFamily="34" charset="0"/>
            </a:endParaRPr>
          </a:p>
          <a:p>
            <a:r>
              <a:rPr lang="en-US" sz="1050">
                <a:solidFill>
                  <a:srgbClr val="94A3B8"/>
                </a:solidFill>
                <a:latin typeface="Segoe UI" panose="020B0502040204020203" pitchFamily="34" charset="0"/>
              </a:rPr>
              <a:t>* Centroid Defuzzification:</a:t>
            </a:r>
          </a:p>
          <a:p>
            <a:r>
              <a:rPr lang="en-US" sz="1050">
                <a:solidFill>
                  <a:srgbClr val="94A3B8"/>
                </a:solidFill>
                <a:latin typeface="Segoe UI" panose="020B0502040204020203" pitchFamily="34" charset="0"/>
              </a:rPr>
              <a:t>  Computes the center of gravity of the aggregated fuzzy output set for a smooth continuous risk score.</a:t>
            </a:r>
          </a:p>
          <a:p>
            <a:endParaRPr lang="en-US" sz="1050">
              <a:solidFill>
                <a:srgbClr val="94A3B8"/>
              </a:solidFill>
              <a:latin typeface="Segoe UI" panose="020B0502040204020203" pitchFamily="34" charset="0"/>
            </a:endParaRPr>
          </a:p>
          <a:p>
            <a:r>
              <a:rPr lang="en-US" sz="1050">
                <a:solidFill>
                  <a:srgbClr val="94A3B8"/>
                </a:solidFill>
                <a:latin typeface="Segoe UI" panose="020B0502040204020203" pitchFamily="34" charset="0"/>
              </a:rPr>
              <a:t>* Production Safeguards:</a:t>
            </a:r>
          </a:p>
          <a:p>
            <a:r>
              <a:rPr lang="en-US" sz="1050">
                <a:solidFill>
                  <a:srgbClr val="94A3B8"/>
                </a:solidFill>
                <a:latin typeface="Segoe UI" panose="020B0502040204020203" pitchFamily="34" charset="0"/>
              </a:rPr>
              <a:t>  - Input Clamping: Prevents out-of-universe exceptions.</a:t>
            </a:r>
          </a:p>
          <a:p>
            <a:r>
              <a:rPr lang="en-US" sz="1050">
                <a:solidFill>
                  <a:srgbClr val="94A3B8"/>
                </a:solidFill>
                <a:latin typeface="Segoe UI" panose="020B0502040204020203" pitchFamily="34" charset="0"/>
              </a:rPr>
              <a:t>  - Cached singleton control system for sub-millisecond execution.</a:t>
            </a:r>
          </a:p>
          <a:p>
            <a:r>
              <a:rPr lang="en-US" sz="1050">
                <a:solidFill>
                  <a:srgbClr val="94A3B8"/>
                </a:solidFill>
                <a:latin typeface="Segoe UI" panose="020B0502040204020203" pitchFamily="34" charset="0"/>
              </a:rPr>
              <a:t>  - Linear fallback mechanism if zero rules trigger.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E1BE023-6D67-4B34-BF23-1C50568C9299}"/>
              </a:ext>
            </a:extLst>
          </p:cNvPr>
          <p:cNvSpPr txBox="1"/>
          <p:nvPr/>
        </p:nvSpPr>
        <p:spPr>
          <a:xfrm>
            <a:off x="571500" y="6375400"/>
            <a:ext cx="5715000" cy="184666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US" sz="900">
                <a:solidFill>
                  <a:srgbClr val="94A3B8"/>
                </a:solidFill>
                <a:latin typeface="Segoe UI" panose="020B0502040204020203" pitchFamily="34" charset="0"/>
              </a:rPr>
              <a:t>Essentials of AI - Group Project | Diabetes Risk &amp; Lifestyle Advisor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791EC67-4D57-4478-99E1-EBA8D54EF2E3}"/>
              </a:ext>
            </a:extLst>
          </p:cNvPr>
          <p:cNvSpPr txBox="1"/>
          <p:nvPr/>
        </p:nvSpPr>
        <p:spPr>
          <a:xfrm>
            <a:off x="6604000" y="6375400"/>
            <a:ext cx="3556000" cy="184666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US" sz="900" b="1">
                <a:solidFill>
                  <a:srgbClr val="38BDF8"/>
                </a:solidFill>
                <a:latin typeface="Segoe UI" panose="020B0502040204020203" pitchFamily="34" charset="0"/>
              </a:rPr>
              <a:t>Speaker: Member 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5F2EABB-62BD-4984-8573-10859E31A735}"/>
              </a:ext>
            </a:extLst>
          </p:cNvPr>
          <p:cNvSpPr txBox="1"/>
          <p:nvPr/>
        </p:nvSpPr>
        <p:spPr>
          <a:xfrm>
            <a:off x="10668000" y="6375400"/>
            <a:ext cx="952500" cy="184666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pPr algn="r"/>
            <a:r>
              <a:rPr lang="en-US" sz="900">
                <a:solidFill>
                  <a:srgbClr val="94A3B8"/>
                </a:solidFill>
                <a:latin typeface="Segoe UI" panose="020B0502040204020203" pitchFamily="34" charset="0"/>
              </a:rPr>
              <a:t>6 / 12</a:t>
            </a:r>
          </a:p>
        </p:txBody>
      </p:sp>
    </p:spTree>
    <p:extLst>
      <p:ext uri="{BB962C8B-B14F-4D97-AF65-F5344CB8AC3E}">
        <p14:creationId xmlns:p14="http://schemas.microsoft.com/office/powerpoint/2010/main" val="20930958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BD3BCAF-577D-4514-B0EF-391C2A133BE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0F1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A10F35C-26C8-4168-BD01-D736BD1E9F14}"/>
              </a:ext>
            </a:extLst>
          </p:cNvPr>
          <p:cNvSpPr txBox="1"/>
          <p:nvPr/>
        </p:nvSpPr>
        <p:spPr>
          <a:xfrm>
            <a:off x="571500" y="254000"/>
            <a:ext cx="6350000" cy="192360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US" sz="950" b="1">
                <a:solidFill>
                  <a:srgbClr val="FBBF24"/>
                </a:solidFill>
                <a:latin typeface="Segoe UI" panose="020B0502040204020203" pitchFamily="34" charset="0"/>
              </a:rPr>
              <a:t>STAGE 3: ACTIONABLE ADVICE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D0EB342-8A57-4367-BB0C-6D894E8D139A}"/>
              </a:ext>
            </a:extLst>
          </p:cNvPr>
          <p:cNvSpPr txBox="1"/>
          <p:nvPr/>
        </p:nvSpPr>
        <p:spPr>
          <a:xfrm>
            <a:off x="571500" y="482600"/>
            <a:ext cx="10795000" cy="369332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US" sz="2100" b="1">
                <a:solidFill>
                  <a:srgbClr val="F8FAFC"/>
                </a:solidFill>
                <a:latin typeface="Segoe UI" panose="020B0502040204020203" pitchFamily="34" charset="0"/>
              </a:rPr>
              <a:t>Rule-Based Expert Engine &amp; Personalization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083748F-8D89-4985-A786-6B00F1E76359}"/>
              </a:ext>
            </a:extLst>
          </p:cNvPr>
          <p:cNvSpPr/>
          <p:nvPr/>
        </p:nvSpPr>
        <p:spPr>
          <a:xfrm>
            <a:off x="571500" y="990600"/>
            <a:ext cx="698500" cy="38100"/>
          </a:xfrm>
          <a:prstGeom prst="rect">
            <a:avLst/>
          </a:prstGeom>
          <a:solidFill>
            <a:srgbClr val="FBBF2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333A2EB-B63A-495A-8CDD-00FA4DCEF269}"/>
              </a:ext>
            </a:extLst>
          </p:cNvPr>
          <p:cNvSpPr/>
          <p:nvPr/>
        </p:nvSpPr>
        <p:spPr>
          <a:xfrm>
            <a:off x="571500" y="1206500"/>
            <a:ext cx="5359400" cy="4889500"/>
          </a:xfrm>
          <a:prstGeom prst="roundRect">
            <a:avLst/>
          </a:prstGeom>
          <a:solidFill>
            <a:srgbClr val="151E2E"/>
          </a:solidFill>
          <a:ln w="12700">
            <a:solidFill>
              <a:srgbClr val="2A385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28600" tIns="203200" rIns="228600" bIns="152400" rtlCol="0" anchor="ctr"/>
          <a:lstStyle/>
          <a:p>
            <a:r>
              <a:rPr lang="en-US" sz="1350" b="1">
                <a:solidFill>
                  <a:srgbClr val="FBBF24"/>
                </a:solidFill>
                <a:latin typeface="Segoe UI" panose="020B0502040204020203" pitchFamily="34" charset="0"/>
              </a:rPr>
              <a:t>4-Tier Baseline Recommendations</a:t>
            </a:r>
          </a:p>
          <a:p>
            <a:endParaRPr lang="en-US" sz="1000">
              <a:solidFill>
                <a:srgbClr val="F8FAFC"/>
              </a:solidFill>
              <a:latin typeface="Segoe UI" panose="020B0502040204020203" pitchFamily="34" charset="0"/>
            </a:endParaRPr>
          </a:p>
          <a:p>
            <a:r>
              <a:rPr lang="en-US" sz="1000">
                <a:solidFill>
                  <a:srgbClr val="F8FAFC"/>
                </a:solidFill>
                <a:latin typeface="Segoe UI" panose="020B0502040204020203" pitchFamily="34" charset="0"/>
              </a:rPr>
              <a:t>* Mandatory Disclaimer First:</a:t>
            </a:r>
          </a:p>
          <a:p>
            <a:r>
              <a:rPr lang="en-US" sz="1000">
                <a:solidFill>
                  <a:srgbClr val="F8FAFC"/>
                </a:solidFill>
                <a:latin typeface="Segoe UI" panose="020B0502040204020203" pitchFamily="34" charset="0"/>
              </a:rPr>
              <a:t>  Every output begins with an explicit medical disclaimer stating the educational nature of the tool.</a:t>
            </a:r>
          </a:p>
          <a:p>
            <a:endParaRPr lang="en-US" sz="1000">
              <a:solidFill>
                <a:srgbClr val="F8FAFC"/>
              </a:solidFill>
              <a:latin typeface="Segoe UI" panose="020B0502040204020203" pitchFamily="34" charset="0"/>
            </a:endParaRPr>
          </a:p>
          <a:p>
            <a:r>
              <a:rPr lang="en-US" sz="1000">
                <a:solidFill>
                  <a:srgbClr val="F8FAFC"/>
                </a:solidFill>
                <a:latin typeface="Segoe UI" panose="020B0502040204020203" pitchFamily="34" charset="0"/>
              </a:rPr>
              <a:t>* Tier 1: Low Risk (4 Base Guidelines):</a:t>
            </a:r>
          </a:p>
          <a:p>
            <a:r>
              <a:rPr lang="en-US" sz="1000">
                <a:solidFill>
                  <a:srgbClr val="F8FAFC"/>
                </a:solidFill>
                <a:latin typeface="Segoe UI" panose="020B0502040204020203" pitchFamily="34" charset="0"/>
              </a:rPr>
              <a:t>  Maintain balanced lifestyle, routine annual checkup, hydration, nutritious whole-food diet.</a:t>
            </a:r>
          </a:p>
          <a:p>
            <a:endParaRPr lang="en-US" sz="1000">
              <a:solidFill>
                <a:srgbClr val="F8FAFC"/>
              </a:solidFill>
              <a:latin typeface="Segoe UI" panose="020B0502040204020203" pitchFamily="34" charset="0"/>
            </a:endParaRPr>
          </a:p>
          <a:p>
            <a:r>
              <a:rPr lang="en-US" sz="1000">
                <a:solidFill>
                  <a:srgbClr val="F8FAFC"/>
                </a:solidFill>
                <a:latin typeface="Segoe UI" panose="020B0502040204020203" pitchFamily="34" charset="0"/>
              </a:rPr>
              <a:t>* Tier 2: Moderate Risk (4 Proactive Guidelines):</a:t>
            </a:r>
          </a:p>
          <a:p>
            <a:r>
              <a:rPr lang="en-US" sz="1000">
                <a:solidFill>
                  <a:srgbClr val="F8FAFC"/>
                </a:solidFill>
                <a:latin typeface="Segoe UI" panose="020B0502040204020203" pitchFamily="34" charset="0"/>
              </a:rPr>
              <a:t>  Schedule fasting plasma glucose test, achieve 150 min/wk moderate exercise, cut refined carbs, track BMI.</a:t>
            </a:r>
          </a:p>
          <a:p>
            <a:endParaRPr lang="en-US" sz="1000">
              <a:solidFill>
                <a:srgbClr val="F8FAFC"/>
              </a:solidFill>
              <a:latin typeface="Segoe UI" panose="020B0502040204020203" pitchFamily="34" charset="0"/>
            </a:endParaRPr>
          </a:p>
          <a:p>
            <a:r>
              <a:rPr lang="en-US" sz="1000">
                <a:solidFill>
                  <a:srgbClr val="F8FAFC"/>
                </a:solidFill>
                <a:latin typeface="Segoe UI" panose="020B0502040204020203" pitchFamily="34" charset="0"/>
              </a:rPr>
              <a:t>* Tier 3: High Risk (5 Urgent Guidelines):</a:t>
            </a:r>
          </a:p>
          <a:p>
            <a:r>
              <a:rPr lang="en-US" sz="1000">
                <a:solidFill>
                  <a:srgbClr val="F8FAFC"/>
                </a:solidFill>
                <a:latin typeface="Segoe UI" panose="020B0502040204020203" pitchFamily="34" charset="0"/>
              </a:rPr>
              <a:t>  Consult physician within 2 weeks, begin daily glucose logs, adopt low-GI diet, structured daily workouts.</a:t>
            </a:r>
          </a:p>
          <a:p>
            <a:endParaRPr lang="en-US" sz="1000">
              <a:solidFill>
                <a:srgbClr val="F8FAFC"/>
              </a:solidFill>
              <a:latin typeface="Segoe UI" panose="020B0502040204020203" pitchFamily="34" charset="0"/>
            </a:endParaRPr>
          </a:p>
          <a:p>
            <a:r>
              <a:rPr lang="en-US" sz="1000">
                <a:solidFill>
                  <a:srgbClr val="F8FAFC"/>
                </a:solidFill>
                <a:latin typeface="Segoe UI" panose="020B0502040204020203" pitchFamily="34" charset="0"/>
              </a:rPr>
              <a:t>* Tier 4: Severe Risk (5 Critical Guidelines):</a:t>
            </a:r>
          </a:p>
          <a:p>
            <a:r>
              <a:rPr lang="en-US" sz="1000">
                <a:solidFill>
                  <a:srgbClr val="F8FAFC"/>
                </a:solidFill>
                <a:latin typeface="Segoe UI" panose="020B0502040204020203" pitchFamily="34" charset="0"/>
              </a:rPr>
              <a:t>  Immediate clinical evaluation, mandatory daily logs, medical dietitian meal plan, assess clinical therapy.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F9C334CC-DF36-462D-A6EB-E81002B1B53C}"/>
              </a:ext>
            </a:extLst>
          </p:cNvPr>
          <p:cNvSpPr/>
          <p:nvPr/>
        </p:nvSpPr>
        <p:spPr>
          <a:xfrm>
            <a:off x="6261100" y="1206500"/>
            <a:ext cx="5359400" cy="4889500"/>
          </a:xfrm>
          <a:prstGeom prst="roundRect">
            <a:avLst/>
          </a:prstGeom>
          <a:solidFill>
            <a:srgbClr val="151E2E"/>
          </a:solidFill>
          <a:ln w="12700">
            <a:solidFill>
              <a:srgbClr val="2A385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28600" tIns="203200" rIns="228600" bIns="152400" rtlCol="0" anchor="ctr"/>
          <a:lstStyle/>
          <a:p>
            <a:r>
              <a:rPr lang="en-US" sz="1350" b="1">
                <a:solidFill>
                  <a:srgbClr val="38BDF8"/>
                </a:solidFill>
                <a:latin typeface="Segoe UI" panose="020B0502040204020203" pitchFamily="34" charset="0"/>
              </a:rPr>
              <a:t>6 Dynamic Clinical Modifiers</a:t>
            </a:r>
          </a:p>
          <a:p>
            <a:endParaRPr lang="en-US" sz="1000">
              <a:solidFill>
                <a:srgbClr val="94A3B8"/>
              </a:solidFill>
              <a:latin typeface="Segoe UI" panose="020B0502040204020203" pitchFamily="34" charset="0"/>
            </a:endParaRPr>
          </a:p>
          <a:p>
            <a:r>
              <a:rPr lang="en-US" sz="1000">
                <a:solidFill>
                  <a:srgbClr val="94A3B8"/>
                </a:solidFill>
                <a:latin typeface="Segoe UI" panose="020B0502040204020203" pitchFamily="34" charset="0"/>
              </a:rPr>
              <a:t>* Blood Glucose:</a:t>
            </a:r>
          </a:p>
          <a:p>
            <a:r>
              <a:rPr lang="en-US" sz="1000">
                <a:solidFill>
                  <a:srgbClr val="94A3B8"/>
                </a:solidFill>
                <a:latin typeface="Segoe UI" panose="020B0502040204020203" pitchFamily="34" charset="0"/>
              </a:rPr>
              <a:t>  Additional alerts if Glucose &gt; 140 mg/dL (prediabetes threshold) or &gt; 180 mg/dL (acute hyperglycemia).</a:t>
            </a:r>
          </a:p>
          <a:p>
            <a:endParaRPr lang="en-US" sz="1000">
              <a:solidFill>
                <a:srgbClr val="94A3B8"/>
              </a:solidFill>
              <a:latin typeface="Segoe UI" panose="020B0502040204020203" pitchFamily="34" charset="0"/>
            </a:endParaRPr>
          </a:p>
          <a:p>
            <a:r>
              <a:rPr lang="en-US" sz="1000">
                <a:solidFill>
                  <a:srgbClr val="94A3B8"/>
                </a:solidFill>
                <a:latin typeface="Segoe UI" panose="020B0502040204020203" pitchFamily="34" charset="0"/>
              </a:rPr>
              <a:t>* Body Mass Index (BMI):</a:t>
            </a:r>
          </a:p>
          <a:p>
            <a:r>
              <a:rPr lang="en-US" sz="1000">
                <a:solidFill>
                  <a:srgbClr val="94A3B8"/>
                </a:solidFill>
                <a:latin typeface="Segoe UI" panose="020B0502040204020203" pitchFamily="34" charset="0"/>
              </a:rPr>
              <a:t>  Custom guidance for Underweight (&lt; 18.5), Obese (&gt; 30), and Severely Obese (&gt; 35).</a:t>
            </a:r>
          </a:p>
          <a:p>
            <a:endParaRPr lang="en-US" sz="1000">
              <a:solidFill>
                <a:srgbClr val="94A3B8"/>
              </a:solidFill>
              <a:latin typeface="Segoe UI" panose="020B0502040204020203" pitchFamily="34" charset="0"/>
            </a:endParaRPr>
          </a:p>
          <a:p>
            <a:r>
              <a:rPr lang="en-US" sz="1000">
                <a:solidFill>
                  <a:srgbClr val="94A3B8"/>
                </a:solidFill>
                <a:latin typeface="Segoe UI" panose="020B0502040204020203" pitchFamily="34" charset="0"/>
              </a:rPr>
              <a:t>* Blood Pressure (BP):</a:t>
            </a:r>
          </a:p>
          <a:p>
            <a:r>
              <a:rPr lang="en-US" sz="1000">
                <a:solidFill>
                  <a:srgbClr val="94A3B8"/>
                </a:solidFill>
                <a:latin typeface="Segoe UI" panose="020B0502040204020203" pitchFamily="34" charset="0"/>
              </a:rPr>
              <a:t>  Cardiovascular warnings if diastolic BP &gt; 90 or &gt; 100 mm Hg.</a:t>
            </a:r>
          </a:p>
          <a:p>
            <a:endParaRPr lang="en-US" sz="1000">
              <a:solidFill>
                <a:srgbClr val="94A3B8"/>
              </a:solidFill>
              <a:latin typeface="Segoe UI" panose="020B0502040204020203" pitchFamily="34" charset="0"/>
            </a:endParaRPr>
          </a:p>
          <a:p>
            <a:r>
              <a:rPr lang="en-US" sz="1000">
                <a:solidFill>
                  <a:srgbClr val="94A3B8"/>
                </a:solidFill>
                <a:latin typeface="Segoe UI" panose="020B0502040204020203" pitchFamily="34" charset="0"/>
              </a:rPr>
              <a:t>* Insulin &amp; Age Milestones:</a:t>
            </a:r>
          </a:p>
          <a:p>
            <a:r>
              <a:rPr lang="en-US" sz="1000">
                <a:solidFill>
                  <a:srgbClr val="94A3B8"/>
                </a:solidFill>
                <a:latin typeface="Segoe UI" panose="020B0502040204020203" pitchFamily="34" charset="0"/>
              </a:rPr>
              <a:t>  Hyperinsulinemia alerts (&gt; 200 uU/mL) + specialized screening schedules for patients aged &gt; 45 and &gt; 60.</a:t>
            </a:r>
          </a:p>
          <a:p>
            <a:endParaRPr lang="en-US" sz="1000">
              <a:solidFill>
                <a:srgbClr val="94A3B8"/>
              </a:solidFill>
              <a:latin typeface="Segoe UI" panose="020B0502040204020203" pitchFamily="34" charset="0"/>
            </a:endParaRPr>
          </a:p>
          <a:p>
            <a:r>
              <a:rPr lang="en-US" sz="1000">
                <a:solidFill>
                  <a:srgbClr val="94A3B8"/>
                </a:solidFill>
                <a:latin typeface="Segoe UI" panose="020B0502040204020203" pitchFamily="34" charset="0"/>
              </a:rPr>
              <a:t>* Family Genetic History (Pedigree):</a:t>
            </a:r>
          </a:p>
          <a:p>
            <a:r>
              <a:rPr lang="en-US" sz="1000">
                <a:solidFill>
                  <a:srgbClr val="94A3B8"/>
                </a:solidFill>
                <a:latin typeface="Segoe UI" panose="020B0502040204020203" pitchFamily="34" charset="0"/>
              </a:rPr>
              <a:t>  Increased screening urgency if pedigree score &gt; 0.5 or &gt; 0.8.</a:t>
            </a:r>
          </a:p>
          <a:p>
            <a:endParaRPr lang="en-US" sz="1000">
              <a:solidFill>
                <a:srgbClr val="94A3B8"/>
              </a:solidFill>
              <a:latin typeface="Segoe UI" panose="020B0502040204020203" pitchFamily="34" charset="0"/>
            </a:endParaRPr>
          </a:p>
          <a:p>
            <a:r>
              <a:rPr lang="en-US" sz="1000">
                <a:solidFill>
                  <a:srgbClr val="94A3B8"/>
                </a:solidFill>
                <a:latin typeface="Segoe UI" panose="020B0502040204020203" pitchFamily="34" charset="0"/>
              </a:rPr>
              <a:t>* Total: 25-30 contextually assembled clinical directives.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5F33402-B975-4D8F-B45B-FB6BB22AE0A5}"/>
              </a:ext>
            </a:extLst>
          </p:cNvPr>
          <p:cNvSpPr txBox="1"/>
          <p:nvPr/>
        </p:nvSpPr>
        <p:spPr>
          <a:xfrm>
            <a:off x="571500" y="6375400"/>
            <a:ext cx="5715000" cy="184666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US" sz="900">
                <a:solidFill>
                  <a:srgbClr val="94A3B8"/>
                </a:solidFill>
                <a:latin typeface="Segoe UI" panose="020B0502040204020203" pitchFamily="34" charset="0"/>
              </a:rPr>
              <a:t>Essentials of AI - Group Project | Diabetes Risk &amp; Lifestyle Advisor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F83FF5A-8EF9-4138-A2BC-1469CCFE684B}"/>
              </a:ext>
            </a:extLst>
          </p:cNvPr>
          <p:cNvSpPr txBox="1"/>
          <p:nvPr/>
        </p:nvSpPr>
        <p:spPr>
          <a:xfrm>
            <a:off x="6604000" y="6375400"/>
            <a:ext cx="3556000" cy="184666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US" sz="900" b="1">
                <a:solidFill>
                  <a:srgbClr val="38BDF8"/>
                </a:solidFill>
                <a:latin typeface="Segoe UI" panose="020B0502040204020203" pitchFamily="34" charset="0"/>
              </a:rPr>
              <a:t>Speaker: Member 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0B5D1F2-10F9-4B6A-ABDC-976149966A89}"/>
              </a:ext>
            </a:extLst>
          </p:cNvPr>
          <p:cNvSpPr txBox="1"/>
          <p:nvPr/>
        </p:nvSpPr>
        <p:spPr>
          <a:xfrm>
            <a:off x="10668000" y="6375400"/>
            <a:ext cx="952500" cy="184666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pPr algn="r"/>
            <a:r>
              <a:rPr lang="en-US" sz="900">
                <a:solidFill>
                  <a:srgbClr val="94A3B8"/>
                </a:solidFill>
                <a:latin typeface="Segoe UI" panose="020B0502040204020203" pitchFamily="34" charset="0"/>
              </a:rPr>
              <a:t>7 / 12</a:t>
            </a:r>
          </a:p>
        </p:txBody>
      </p:sp>
    </p:spTree>
    <p:extLst>
      <p:ext uri="{BB962C8B-B14F-4D97-AF65-F5344CB8AC3E}">
        <p14:creationId xmlns:p14="http://schemas.microsoft.com/office/powerpoint/2010/main" val="7932508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0361529-0048-4608-9663-DABEFFB18A7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0F1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AFE443D-FE62-4017-8CF7-A1E2D41B961B}"/>
              </a:ext>
            </a:extLst>
          </p:cNvPr>
          <p:cNvSpPr txBox="1"/>
          <p:nvPr/>
        </p:nvSpPr>
        <p:spPr>
          <a:xfrm>
            <a:off x="571500" y="254000"/>
            <a:ext cx="6350000" cy="192360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US" sz="950" b="1">
                <a:solidFill>
                  <a:srgbClr val="38BDF8"/>
                </a:solidFill>
                <a:latin typeface="Segoe UI" panose="020B0502040204020203" pitchFamily="34" charset="0"/>
              </a:rPr>
              <a:t>USER EXPERIENCE &amp; IMPLEMENTATION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30CD690-4F18-4FF0-B533-2D1AC413AB9A}"/>
              </a:ext>
            </a:extLst>
          </p:cNvPr>
          <p:cNvSpPr txBox="1"/>
          <p:nvPr/>
        </p:nvSpPr>
        <p:spPr>
          <a:xfrm>
            <a:off x="571500" y="482600"/>
            <a:ext cx="10795000" cy="369332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US" sz="2100" b="1">
                <a:solidFill>
                  <a:srgbClr val="F8FAFC"/>
                </a:solidFill>
                <a:latin typeface="Segoe UI" panose="020B0502040204020203" pitchFamily="34" charset="0"/>
              </a:rPr>
              <a:t>Interactive Web Dashboard &amp; Tech Stack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36ACEAA-20EC-425B-A24A-BAC59AC03EE9}"/>
              </a:ext>
            </a:extLst>
          </p:cNvPr>
          <p:cNvSpPr/>
          <p:nvPr/>
        </p:nvSpPr>
        <p:spPr>
          <a:xfrm>
            <a:off x="571500" y="990600"/>
            <a:ext cx="698500" cy="38100"/>
          </a:xfrm>
          <a:prstGeom prst="rect">
            <a:avLst/>
          </a:prstGeom>
          <a:solidFill>
            <a:srgbClr val="38BDF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DCE3EFA-24C5-4FCF-ADE0-148E7CA2B17D}"/>
              </a:ext>
            </a:extLst>
          </p:cNvPr>
          <p:cNvSpPr/>
          <p:nvPr/>
        </p:nvSpPr>
        <p:spPr>
          <a:xfrm>
            <a:off x="571500" y="1206500"/>
            <a:ext cx="5080000" cy="4889500"/>
          </a:xfrm>
          <a:prstGeom prst="roundRect">
            <a:avLst/>
          </a:prstGeom>
          <a:solidFill>
            <a:srgbClr val="151E2E"/>
          </a:solidFill>
          <a:ln w="12700">
            <a:solidFill>
              <a:srgbClr val="2A385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03200" tIns="177800" rIns="203200" bIns="152400" rtlCol="0" anchor="ctr"/>
          <a:lstStyle/>
          <a:p>
            <a:r>
              <a:rPr lang="en-US" sz="1350" b="1">
                <a:solidFill>
                  <a:srgbClr val="38BDF8"/>
                </a:solidFill>
                <a:latin typeface="Segoe UI" panose="020B0502040204020203" pitchFamily="34" charset="0"/>
              </a:rPr>
              <a:t>Dashboard Capabilities</a:t>
            </a:r>
          </a:p>
          <a:p>
            <a:endParaRPr lang="en-US" sz="1000">
              <a:solidFill>
                <a:srgbClr val="F8FAFC"/>
              </a:solidFill>
              <a:latin typeface="Segoe UI" panose="020B0502040204020203" pitchFamily="34" charset="0"/>
            </a:endParaRPr>
          </a:p>
          <a:p>
            <a:r>
              <a:rPr lang="en-US" sz="1000">
                <a:solidFill>
                  <a:srgbClr val="F8FAFC"/>
                </a:solidFill>
                <a:latin typeface="Segoe UI" panose="020B0502040204020203" pitchFamily="34" charset="0"/>
              </a:rPr>
              <a:t>* Responsive 3-Column Input Grid:</a:t>
            </a:r>
          </a:p>
          <a:p>
            <a:r>
              <a:rPr lang="en-US" sz="1000">
                <a:solidFill>
                  <a:srgbClr val="F8FAFC"/>
                </a:solidFill>
                <a:latin typeface="Segoe UI" panose="020B0502040204020203" pitchFamily="34" charset="0"/>
              </a:rPr>
              <a:t>  Clean entry fields for all 9 health vitals with tooltips and slider for activity level.</a:t>
            </a:r>
          </a:p>
          <a:p>
            <a:endParaRPr lang="en-US" sz="1000">
              <a:solidFill>
                <a:srgbClr val="F8FAFC"/>
              </a:solidFill>
              <a:latin typeface="Segoe UI" panose="020B0502040204020203" pitchFamily="34" charset="0"/>
            </a:endParaRPr>
          </a:p>
          <a:p>
            <a:r>
              <a:rPr lang="en-US" sz="1000">
                <a:solidFill>
                  <a:srgbClr val="F8FAFC"/>
                </a:solidFill>
                <a:latin typeface="Segoe UI" panose="020B0502040204020203" pitchFamily="34" charset="0"/>
              </a:rPr>
              <a:t>* Informative Sidebar Panel:</a:t>
            </a:r>
          </a:p>
          <a:p>
            <a:r>
              <a:rPr lang="en-US" sz="1000">
                <a:solidFill>
                  <a:srgbClr val="F8FAFC"/>
                </a:solidFill>
                <a:latin typeface="Segoe UI" panose="020B0502040204020203" pitchFamily="34" charset="0"/>
              </a:rPr>
              <a:t>  Provides pipeline explanation, dataset details, demographic caveats, and project disclaimer.</a:t>
            </a:r>
          </a:p>
          <a:p>
            <a:endParaRPr lang="en-US" sz="1000">
              <a:solidFill>
                <a:srgbClr val="F8FAFC"/>
              </a:solidFill>
              <a:latin typeface="Segoe UI" panose="020B0502040204020203" pitchFamily="34" charset="0"/>
            </a:endParaRPr>
          </a:p>
          <a:p>
            <a:r>
              <a:rPr lang="en-US" sz="1000">
                <a:solidFill>
                  <a:srgbClr val="F8FAFC"/>
                </a:solidFill>
                <a:latin typeface="Segoe UI" panose="020B0502040204020203" pitchFamily="34" charset="0"/>
              </a:rPr>
              <a:t>* Asynchronous Execution Indicator:</a:t>
            </a:r>
          </a:p>
          <a:p>
            <a:r>
              <a:rPr lang="en-US" sz="1000">
                <a:solidFill>
                  <a:srgbClr val="F8FAFC"/>
                </a:solidFill>
                <a:latin typeface="Segoe UI" panose="020B0502040204020203" pitchFamily="34" charset="0"/>
              </a:rPr>
              <a:t>  Visual spinners show pipeline execution across NN, Fuzzy Logic, and Rule evaluation.</a:t>
            </a:r>
          </a:p>
          <a:p>
            <a:endParaRPr lang="en-US" sz="1000">
              <a:solidFill>
                <a:srgbClr val="F8FAFC"/>
              </a:solidFill>
              <a:latin typeface="Segoe UI" panose="020B0502040204020203" pitchFamily="34" charset="0"/>
            </a:endParaRPr>
          </a:p>
          <a:p>
            <a:r>
              <a:rPr lang="en-US" sz="1000">
                <a:solidFill>
                  <a:srgbClr val="F8FAFC"/>
                </a:solidFill>
                <a:latin typeface="Segoe UI" panose="020B0502040204020203" pitchFamily="34" charset="0"/>
              </a:rPr>
              <a:t>* Technology Stack:</a:t>
            </a:r>
          </a:p>
          <a:p>
            <a:r>
              <a:rPr lang="en-US" sz="1000">
                <a:solidFill>
                  <a:srgbClr val="F8FAFC"/>
                </a:solidFill>
                <a:latin typeface="Segoe UI" panose="020B0502040204020203" pitchFamily="34" charset="0"/>
              </a:rPr>
              <a:t>  - Streamlit (v1.28+) : Web UI &amp; reactivity</a:t>
            </a:r>
          </a:p>
          <a:p>
            <a:r>
              <a:rPr lang="en-US" sz="1000">
                <a:solidFill>
                  <a:srgbClr val="F8FAFC"/>
                </a:solidFill>
                <a:latin typeface="Segoe UI" panose="020B0502040204020203" pitchFamily="34" charset="0"/>
              </a:rPr>
              <a:t>  - scikit-learn : MLP neural network</a:t>
            </a:r>
          </a:p>
          <a:p>
            <a:r>
              <a:rPr lang="en-US" sz="1000">
                <a:solidFill>
                  <a:srgbClr val="F8FAFC"/>
                </a:solidFill>
                <a:latin typeface="Segoe UI" panose="020B0502040204020203" pitchFamily="34" charset="0"/>
              </a:rPr>
              <a:t>  - scikit-fuzzy : Fuzzy logic control systems</a:t>
            </a:r>
          </a:p>
          <a:p>
            <a:r>
              <a:rPr lang="en-US" sz="1000">
                <a:solidFill>
                  <a:srgbClr val="F8FAFC"/>
                </a:solidFill>
                <a:latin typeface="Segoe UI" panose="020B0502040204020203" pitchFamily="34" charset="0"/>
              </a:rPr>
              <a:t>  - pandas &amp; numpy : Tabular data handling</a:t>
            </a:r>
          </a:p>
          <a:p>
            <a:r>
              <a:rPr lang="en-US" sz="1000">
                <a:solidFill>
                  <a:srgbClr val="F8FAFC"/>
                </a:solidFill>
                <a:latin typeface="Segoe UI" panose="020B0502040204020203" pitchFamily="34" charset="0"/>
              </a:rPr>
              <a:t>  - joblib : Scaler &amp; weight serialization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19B46D85-3709-46AF-830A-569A022F5D8E}"/>
              </a:ext>
            </a:extLst>
          </p:cNvPr>
          <p:cNvSpPr/>
          <p:nvPr/>
        </p:nvSpPr>
        <p:spPr>
          <a:xfrm>
            <a:off x="5905500" y="1206500"/>
            <a:ext cx="5715000" cy="4889500"/>
          </a:xfrm>
          <a:prstGeom prst="roundRect">
            <a:avLst/>
          </a:prstGeom>
          <a:solidFill>
            <a:srgbClr val="151E2E"/>
          </a:solidFill>
          <a:ln w="12700">
            <a:solidFill>
              <a:srgbClr val="2A385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03200" tIns="177800" rIns="203200" bIns="152400"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023C779-BB20-4600-A267-C4BF8E4503CD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32500" y="1333500"/>
            <a:ext cx="5461000" cy="46355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8D0DEC1-D567-47A9-90FE-0687EFD74CC5}"/>
              </a:ext>
            </a:extLst>
          </p:cNvPr>
          <p:cNvSpPr txBox="1"/>
          <p:nvPr/>
        </p:nvSpPr>
        <p:spPr>
          <a:xfrm>
            <a:off x="571500" y="6375400"/>
            <a:ext cx="5715000" cy="184666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US" sz="900">
                <a:solidFill>
                  <a:srgbClr val="94A3B8"/>
                </a:solidFill>
                <a:latin typeface="Segoe UI" panose="020B0502040204020203" pitchFamily="34" charset="0"/>
              </a:rPr>
              <a:t>Essentials of AI - Group Project | Diabetes Risk &amp; Lifestyle Advisor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CBF33EE-FB5B-4331-95E9-0F2D66A46D88}"/>
              </a:ext>
            </a:extLst>
          </p:cNvPr>
          <p:cNvSpPr txBox="1"/>
          <p:nvPr/>
        </p:nvSpPr>
        <p:spPr>
          <a:xfrm>
            <a:off x="6604000" y="6375400"/>
            <a:ext cx="3556000" cy="184666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US" sz="900" b="1">
                <a:solidFill>
                  <a:srgbClr val="38BDF8"/>
                </a:solidFill>
                <a:latin typeface="Segoe UI" panose="020B0502040204020203" pitchFamily="34" charset="0"/>
              </a:rPr>
              <a:t>Speaker: Member 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51C8D8D-A437-4951-8125-B30F497BD472}"/>
              </a:ext>
            </a:extLst>
          </p:cNvPr>
          <p:cNvSpPr txBox="1"/>
          <p:nvPr/>
        </p:nvSpPr>
        <p:spPr>
          <a:xfrm>
            <a:off x="10668000" y="6375400"/>
            <a:ext cx="952500" cy="184666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pPr algn="r"/>
            <a:r>
              <a:rPr lang="en-US" sz="900">
                <a:solidFill>
                  <a:srgbClr val="94A3B8"/>
                </a:solidFill>
                <a:latin typeface="Segoe UI" panose="020B0502040204020203" pitchFamily="34" charset="0"/>
              </a:rPr>
              <a:t>8 / 12</a:t>
            </a:r>
          </a:p>
        </p:txBody>
      </p:sp>
    </p:spTree>
    <p:extLst>
      <p:ext uri="{BB962C8B-B14F-4D97-AF65-F5344CB8AC3E}">
        <p14:creationId xmlns:p14="http://schemas.microsoft.com/office/powerpoint/2010/main" val="23198013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FB35722-4D02-4C81-8A87-8F994007975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0F1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D4B1928-B830-477D-8988-0A5B8A1D2950}"/>
              </a:ext>
            </a:extLst>
          </p:cNvPr>
          <p:cNvSpPr txBox="1"/>
          <p:nvPr/>
        </p:nvSpPr>
        <p:spPr>
          <a:xfrm>
            <a:off x="571500" y="254000"/>
            <a:ext cx="6350000" cy="192360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US" sz="950" b="1">
                <a:solidFill>
                  <a:srgbClr val="C084FC"/>
                </a:solidFill>
                <a:latin typeface="Segoe UI" panose="020B0502040204020203" pitchFamily="34" charset="0"/>
              </a:rPr>
              <a:t>SYSTEM IN ACTION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883018C-4AA7-45F5-AC9F-0ADF85904851}"/>
              </a:ext>
            </a:extLst>
          </p:cNvPr>
          <p:cNvSpPr txBox="1"/>
          <p:nvPr/>
        </p:nvSpPr>
        <p:spPr>
          <a:xfrm>
            <a:off x="571500" y="482600"/>
            <a:ext cx="10795000" cy="369332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US" sz="2100" b="1">
                <a:solidFill>
                  <a:srgbClr val="F8FAFC"/>
                </a:solidFill>
                <a:latin typeface="Segoe UI" panose="020B0502040204020203" pitchFamily="34" charset="0"/>
              </a:rPr>
              <a:t>Live Demonstration &amp; Output Synthesis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1BCF5AF-BF1D-4D01-A845-FB0F8B9DAD83}"/>
              </a:ext>
            </a:extLst>
          </p:cNvPr>
          <p:cNvSpPr/>
          <p:nvPr/>
        </p:nvSpPr>
        <p:spPr>
          <a:xfrm>
            <a:off x="571500" y="990600"/>
            <a:ext cx="698500" cy="38100"/>
          </a:xfrm>
          <a:prstGeom prst="rect">
            <a:avLst/>
          </a:prstGeom>
          <a:solidFill>
            <a:srgbClr val="C084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860159AB-27E3-4A1F-8FC4-D3210BE5B88A}"/>
              </a:ext>
            </a:extLst>
          </p:cNvPr>
          <p:cNvSpPr/>
          <p:nvPr/>
        </p:nvSpPr>
        <p:spPr>
          <a:xfrm>
            <a:off x="571500" y="1206500"/>
            <a:ext cx="5080000" cy="4889500"/>
          </a:xfrm>
          <a:prstGeom prst="roundRect">
            <a:avLst/>
          </a:prstGeom>
          <a:solidFill>
            <a:srgbClr val="151E2E"/>
          </a:solidFill>
          <a:ln w="12700">
            <a:solidFill>
              <a:srgbClr val="2A385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03200" tIns="177800" rIns="203200" bIns="152400" rtlCol="0" anchor="ctr"/>
          <a:lstStyle/>
          <a:p>
            <a:r>
              <a:rPr lang="en-US" sz="1350" b="1">
                <a:solidFill>
                  <a:srgbClr val="C084FC"/>
                </a:solidFill>
                <a:latin typeface="Segoe UI" panose="020B0502040204020203" pitchFamily="34" charset="0"/>
              </a:rPr>
              <a:t>Sample Patient Assessment</a:t>
            </a:r>
          </a:p>
          <a:p>
            <a:endParaRPr lang="en-US" sz="1000">
              <a:solidFill>
                <a:srgbClr val="F8FAFC"/>
              </a:solidFill>
              <a:latin typeface="Segoe UI" panose="020B0502040204020203" pitchFamily="34" charset="0"/>
            </a:endParaRPr>
          </a:p>
          <a:p>
            <a:r>
              <a:rPr lang="en-US" sz="1000">
                <a:solidFill>
                  <a:srgbClr val="F8FAFC"/>
                </a:solidFill>
                <a:latin typeface="Segoe UI" panose="020B0502040204020203" pitchFamily="34" charset="0"/>
              </a:rPr>
              <a:t>* Patient Vitals Input:</a:t>
            </a:r>
          </a:p>
          <a:p>
            <a:r>
              <a:rPr lang="en-US" sz="1000">
                <a:solidFill>
                  <a:srgbClr val="F8FAFC"/>
                </a:solidFill>
                <a:latin typeface="Segoe UI" panose="020B0502040204020203" pitchFamily="34" charset="0"/>
              </a:rPr>
              <a:t>  - Age: 33  |  Pregnancies: 1  |  Glucose: 120 mg/dL</a:t>
            </a:r>
          </a:p>
          <a:p>
            <a:r>
              <a:rPr lang="en-US" sz="1000">
                <a:solidFill>
                  <a:srgbClr val="F8FAFC"/>
                </a:solidFill>
                <a:latin typeface="Segoe UI" panose="020B0502040204020203" pitchFamily="34" charset="0"/>
              </a:rPr>
              <a:t>  - Blood Pressure: 72 mm Hg  |  Skin Thickness: 29 mm</a:t>
            </a:r>
          </a:p>
          <a:p>
            <a:r>
              <a:rPr lang="en-US" sz="1000">
                <a:solidFill>
                  <a:srgbClr val="F8FAFC"/>
                </a:solidFill>
                <a:latin typeface="Segoe UI" panose="020B0502040204020203" pitchFamily="34" charset="0"/>
              </a:rPr>
              <a:t>  - Insulin: 125 uU/mL  |  BMI: 28.0  |  Activity: 5/10</a:t>
            </a:r>
          </a:p>
          <a:p>
            <a:endParaRPr lang="en-US" sz="1000">
              <a:solidFill>
                <a:srgbClr val="F8FAFC"/>
              </a:solidFill>
              <a:latin typeface="Segoe UI" panose="020B0502040204020203" pitchFamily="34" charset="0"/>
            </a:endParaRPr>
          </a:p>
          <a:p>
            <a:r>
              <a:rPr lang="en-US" sz="1000">
                <a:solidFill>
                  <a:srgbClr val="F8FAFC"/>
                </a:solidFill>
                <a:latin typeface="Segoe UI" panose="020B0502040204020203" pitchFamily="34" charset="0"/>
              </a:rPr>
              <a:t>* Pipeline Execution Trace:</a:t>
            </a:r>
          </a:p>
          <a:p>
            <a:r>
              <a:rPr lang="en-US" sz="1000">
                <a:solidFill>
                  <a:srgbClr val="F8FAFC"/>
                </a:solidFill>
                <a:latin typeface="Segoe UI" panose="020B0502040204020203" pitchFamily="34" charset="0"/>
              </a:rPr>
              <a:t>  1. Neural Network: 38.4% continuous probability</a:t>
            </a:r>
          </a:p>
          <a:p>
            <a:r>
              <a:rPr lang="en-US" sz="1000">
                <a:solidFill>
                  <a:srgbClr val="F8FAFC"/>
                </a:solidFill>
                <a:latin typeface="Segoe UI" panose="020B0502040204020203" pitchFamily="34" charset="0"/>
              </a:rPr>
              <a:t>  2. Fuzzy Logic: Synthesizes probability + BMI 28 + moderate activity -&gt; Category Score 46.2 (Moderate Risk)</a:t>
            </a:r>
          </a:p>
          <a:p>
            <a:r>
              <a:rPr lang="en-US" sz="1000">
                <a:solidFill>
                  <a:srgbClr val="F8FAFC"/>
                </a:solidFill>
                <a:latin typeface="Segoe UI" panose="020B0502040204020203" pitchFamily="34" charset="0"/>
              </a:rPr>
              <a:t>  3. Rules Advisor: Generates 8 targeted guidelines</a:t>
            </a:r>
          </a:p>
          <a:p>
            <a:endParaRPr lang="en-US" sz="1000">
              <a:solidFill>
                <a:srgbClr val="F8FAFC"/>
              </a:solidFill>
              <a:latin typeface="Segoe UI" panose="020B0502040204020203" pitchFamily="34" charset="0"/>
            </a:endParaRPr>
          </a:p>
          <a:p>
            <a:r>
              <a:rPr lang="en-US" sz="1000">
                <a:solidFill>
                  <a:srgbClr val="F8FAFC"/>
                </a:solidFill>
                <a:latin typeface="Segoe UI" panose="020B0502040204020203" pitchFamily="34" charset="0"/>
              </a:rPr>
              <a:t>* Rich UI Results Presentation:</a:t>
            </a:r>
          </a:p>
          <a:p>
            <a:r>
              <a:rPr lang="en-US" sz="1000">
                <a:solidFill>
                  <a:srgbClr val="F8FAFC"/>
                </a:solidFill>
                <a:latin typeface="Segoe UI" panose="020B0502040204020203" pitchFamily="34" charset="0"/>
              </a:rPr>
              <a:t>  - Color-coded badges (Green/Yellow/Red/Dark Red)</a:t>
            </a:r>
          </a:p>
          <a:p>
            <a:r>
              <a:rPr lang="en-US" sz="1000">
                <a:solidFill>
                  <a:srgbClr val="F8FAFC"/>
                </a:solidFill>
                <a:latin typeface="Segoe UI" panose="020B0502040204020203" pitchFamily="34" charset="0"/>
              </a:rPr>
              <a:t>  - Category icons: Fitness, Diet, Clinical</a:t>
            </a:r>
          </a:p>
          <a:p>
            <a:r>
              <a:rPr lang="en-US" sz="1000">
                <a:solidFill>
                  <a:srgbClr val="F8FAFC"/>
                </a:solidFill>
                <a:latin typeface="Segoe UI" panose="020B0502040204020203" pitchFamily="34" charset="0"/>
              </a:rPr>
              <a:t>  - Expandable JSON debug inspectability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F1ED846A-A337-48FB-AF7A-A50197DC688C}"/>
              </a:ext>
            </a:extLst>
          </p:cNvPr>
          <p:cNvSpPr/>
          <p:nvPr/>
        </p:nvSpPr>
        <p:spPr>
          <a:xfrm>
            <a:off x="5905500" y="1206500"/>
            <a:ext cx="5715000" cy="4889500"/>
          </a:xfrm>
          <a:prstGeom prst="roundRect">
            <a:avLst/>
          </a:prstGeom>
          <a:solidFill>
            <a:srgbClr val="151E2E"/>
          </a:solidFill>
          <a:ln w="12700">
            <a:solidFill>
              <a:srgbClr val="2A385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03200" tIns="177800" rIns="203200" bIns="152400"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93ECD82-1691-4610-9274-738CF639013B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32500" y="1333500"/>
            <a:ext cx="5461000" cy="46355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B00B0B3-012A-4531-BAAE-ACA4FDDB3CD1}"/>
              </a:ext>
            </a:extLst>
          </p:cNvPr>
          <p:cNvSpPr txBox="1"/>
          <p:nvPr/>
        </p:nvSpPr>
        <p:spPr>
          <a:xfrm>
            <a:off x="571500" y="6375400"/>
            <a:ext cx="5715000" cy="184666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US" sz="900">
                <a:solidFill>
                  <a:srgbClr val="94A3B8"/>
                </a:solidFill>
                <a:latin typeface="Segoe UI" panose="020B0502040204020203" pitchFamily="34" charset="0"/>
              </a:rPr>
              <a:t>Essentials of AI - Group Project | Diabetes Risk &amp; Lifestyle Advisor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24FEDFE-D1B1-4139-AA8D-2E6E7C5E2DDC}"/>
              </a:ext>
            </a:extLst>
          </p:cNvPr>
          <p:cNvSpPr txBox="1"/>
          <p:nvPr/>
        </p:nvSpPr>
        <p:spPr>
          <a:xfrm>
            <a:off x="6604000" y="6375400"/>
            <a:ext cx="3556000" cy="184666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US" sz="900" b="1">
                <a:solidFill>
                  <a:srgbClr val="38BDF8"/>
                </a:solidFill>
                <a:latin typeface="Segoe UI" panose="020B0502040204020203" pitchFamily="34" charset="0"/>
              </a:rPr>
              <a:t>Speaker: Member 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7315846-C6B3-414A-86F0-AEB8834386AF}"/>
              </a:ext>
            </a:extLst>
          </p:cNvPr>
          <p:cNvSpPr txBox="1"/>
          <p:nvPr/>
        </p:nvSpPr>
        <p:spPr>
          <a:xfrm>
            <a:off x="10668000" y="6375400"/>
            <a:ext cx="952500" cy="184666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pPr algn="r"/>
            <a:r>
              <a:rPr lang="en-US" sz="900">
                <a:solidFill>
                  <a:srgbClr val="94A3B8"/>
                </a:solidFill>
                <a:latin typeface="Segoe UI" panose="020B0502040204020203" pitchFamily="34" charset="0"/>
              </a:rPr>
              <a:t>9 / 12</a:t>
            </a:r>
          </a:p>
        </p:txBody>
      </p:sp>
    </p:spTree>
    <p:extLst>
      <p:ext uri="{BB962C8B-B14F-4D97-AF65-F5344CB8AC3E}">
        <p14:creationId xmlns:p14="http://schemas.microsoft.com/office/powerpoint/2010/main" val="31732167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23C034A-7F68-4AD0-A778-35CFED38CAF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0F1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993155-19A1-42D3-8D29-641390C78B92}"/>
              </a:ext>
            </a:extLst>
          </p:cNvPr>
          <p:cNvSpPr txBox="1"/>
          <p:nvPr/>
        </p:nvSpPr>
        <p:spPr>
          <a:xfrm>
            <a:off x="571500" y="254000"/>
            <a:ext cx="6350000" cy="192360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US" sz="950" b="1">
                <a:solidFill>
                  <a:srgbClr val="4ADE80"/>
                </a:solidFill>
                <a:latin typeface="Segoe UI" panose="020B0502040204020203" pitchFamily="34" charset="0"/>
              </a:rPr>
              <a:t>VERIFICATION &amp; QUALITY ASSURANCE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287456C-CD17-414D-BCFE-E2BC2A31870B}"/>
              </a:ext>
            </a:extLst>
          </p:cNvPr>
          <p:cNvSpPr txBox="1"/>
          <p:nvPr/>
        </p:nvSpPr>
        <p:spPr>
          <a:xfrm>
            <a:off x="571500" y="482600"/>
            <a:ext cx="10795000" cy="369332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US" sz="2100" b="1">
                <a:solidFill>
                  <a:srgbClr val="F8FAFC"/>
                </a:solidFill>
                <a:latin typeface="Segoe UI" panose="020B0502040204020203" pitchFamily="34" charset="0"/>
              </a:rPr>
              <a:t>Testing Suite &amp; Pipeline Validation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2E240E2-422F-4F65-BE2D-A7F9D75F2800}"/>
              </a:ext>
            </a:extLst>
          </p:cNvPr>
          <p:cNvSpPr/>
          <p:nvPr/>
        </p:nvSpPr>
        <p:spPr>
          <a:xfrm>
            <a:off x="571500" y="990600"/>
            <a:ext cx="698500" cy="38100"/>
          </a:xfrm>
          <a:prstGeom prst="rect">
            <a:avLst/>
          </a:prstGeom>
          <a:solidFill>
            <a:srgbClr val="4ADE8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E3D41A5-D7E2-4951-A0A5-064080804BAF}"/>
              </a:ext>
            </a:extLst>
          </p:cNvPr>
          <p:cNvSpPr/>
          <p:nvPr/>
        </p:nvSpPr>
        <p:spPr>
          <a:xfrm>
            <a:off x="571500" y="1206500"/>
            <a:ext cx="5359400" cy="4889500"/>
          </a:xfrm>
          <a:prstGeom prst="roundRect">
            <a:avLst/>
          </a:prstGeom>
          <a:solidFill>
            <a:srgbClr val="151E2E"/>
          </a:solidFill>
          <a:ln w="12700">
            <a:solidFill>
              <a:srgbClr val="2A385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28600" tIns="203200" rIns="228600" bIns="152400" rtlCol="0" anchor="ctr"/>
          <a:lstStyle/>
          <a:p>
            <a:r>
              <a:rPr lang="en-US" sz="1350" b="1">
                <a:solidFill>
                  <a:srgbClr val="4ADE80"/>
                </a:solidFill>
                <a:latin typeface="Segoe UI" panose="020B0502040204020203" pitchFamily="34" charset="0"/>
              </a:rPr>
              <a:t>10 Clinical Test Profiles (test_pipeline.py)</a:t>
            </a:r>
          </a:p>
          <a:p>
            <a:endParaRPr lang="en-US" sz="950">
              <a:solidFill>
                <a:srgbClr val="F8FAFC"/>
              </a:solidFill>
              <a:latin typeface="Segoe UI" panose="020B0502040204020203" pitchFamily="34" charset="0"/>
            </a:endParaRPr>
          </a:p>
          <a:p>
            <a:r>
              <a:rPr lang="en-US" sz="950">
                <a:solidFill>
                  <a:srgbClr val="F8FAFC"/>
                </a:solidFill>
                <a:latin typeface="Segoe UI" panose="020B0502040204020203" pitchFamily="34" charset="0"/>
              </a:rPr>
              <a:t>* Healthy Young Woman (Age 22, BMI 21.5)  -&gt; Low Risk [Passed]</a:t>
            </a:r>
          </a:p>
          <a:p>
            <a:endParaRPr lang="en-US" sz="950">
              <a:solidFill>
                <a:srgbClr val="F8FAFC"/>
              </a:solidFill>
              <a:latin typeface="Segoe UI" panose="020B0502040204020203" pitchFamily="34" charset="0"/>
            </a:endParaRPr>
          </a:p>
          <a:p>
            <a:r>
              <a:rPr lang="en-US" sz="950">
                <a:solidFill>
                  <a:srgbClr val="F8FAFC"/>
                </a:solidFill>
                <a:latin typeface="Segoe UI" panose="020B0502040204020203" pitchFamily="34" charset="0"/>
              </a:rPr>
              <a:t>* Average Middle-Aged (Age 45, BMI 26.5)  -&gt; Moderate [Passed]</a:t>
            </a:r>
          </a:p>
          <a:p>
            <a:endParaRPr lang="en-US" sz="950">
              <a:solidFill>
                <a:srgbClr val="F8FAFC"/>
              </a:solidFill>
              <a:latin typeface="Segoe UI" panose="020B0502040204020203" pitchFamily="34" charset="0"/>
            </a:endParaRPr>
          </a:p>
          <a:p>
            <a:r>
              <a:rPr lang="en-US" sz="950">
                <a:solidFill>
                  <a:srgbClr val="F8FAFC"/>
                </a:solidFill>
                <a:latin typeface="Segoe UI" panose="020B0502040204020203" pitchFamily="34" charset="0"/>
              </a:rPr>
              <a:t>* Overweight Sedentary (BMI 32, Act 1/10)   -&gt; Moderate [Passed]</a:t>
            </a:r>
          </a:p>
          <a:p>
            <a:endParaRPr lang="en-US" sz="950">
              <a:solidFill>
                <a:srgbClr val="F8FAFC"/>
              </a:solidFill>
              <a:latin typeface="Segoe UI" panose="020B0502040204020203" pitchFamily="34" charset="0"/>
            </a:endParaRPr>
          </a:p>
          <a:p>
            <a:r>
              <a:rPr lang="en-US" sz="950">
                <a:solidFill>
                  <a:srgbClr val="F8FAFC"/>
                </a:solidFill>
                <a:latin typeface="Segoe UI" panose="020B0502040204020203" pitchFamily="34" charset="0"/>
              </a:rPr>
              <a:t>* High-Risk Elderly (Age 65, Gluc 155)      -&gt; High Risk [Passed]</a:t>
            </a:r>
          </a:p>
          <a:p>
            <a:endParaRPr lang="en-US" sz="950">
              <a:solidFill>
                <a:srgbClr val="F8FAFC"/>
              </a:solidFill>
              <a:latin typeface="Segoe UI" panose="020B0502040204020203" pitchFamily="34" charset="0"/>
            </a:endParaRPr>
          </a:p>
          <a:p>
            <a:r>
              <a:rPr lang="en-US" sz="950">
                <a:solidFill>
                  <a:srgbClr val="F8FAFC"/>
                </a:solidFill>
                <a:latin typeface="Segoe UI" panose="020B0502040204020203" pitchFamily="34" charset="0"/>
              </a:rPr>
              <a:t>* Borderline Profiles A &amp; B (Cutoff tests)  -&gt; Smooth curve [Passed]</a:t>
            </a:r>
          </a:p>
          <a:p>
            <a:endParaRPr lang="en-US" sz="950">
              <a:solidFill>
                <a:srgbClr val="F8FAFC"/>
              </a:solidFill>
              <a:latin typeface="Segoe UI" panose="020B0502040204020203" pitchFamily="34" charset="0"/>
            </a:endParaRPr>
          </a:p>
          <a:p>
            <a:r>
              <a:rPr lang="en-US" sz="950">
                <a:solidFill>
                  <a:srgbClr val="F8FAFC"/>
                </a:solidFill>
                <a:latin typeface="Segoe UI" panose="020B0502040204020203" pitchFamily="34" charset="0"/>
              </a:rPr>
              <a:t>* Active + Family History (Pedigree 1.2)   -&gt; Controlled [Passed]</a:t>
            </a:r>
          </a:p>
          <a:p>
            <a:endParaRPr lang="en-US" sz="950">
              <a:solidFill>
                <a:srgbClr val="F8FAFC"/>
              </a:solidFill>
              <a:latin typeface="Segoe UI" panose="020B0502040204020203" pitchFamily="34" charset="0"/>
            </a:endParaRPr>
          </a:p>
          <a:p>
            <a:r>
              <a:rPr lang="en-US" sz="950">
                <a:solidFill>
                  <a:srgbClr val="F8FAFC"/>
                </a:solidFill>
                <a:latin typeface="Segoe UI" panose="020B0502040204020203" pitchFamily="34" charset="0"/>
              </a:rPr>
              <a:t>* Extreme High Risk (Gluc 198, BMI 42)    -&gt; Severe Risk [Passed]</a:t>
            </a:r>
          </a:p>
          <a:p>
            <a:endParaRPr lang="en-US" sz="950">
              <a:solidFill>
                <a:srgbClr val="F8FAFC"/>
              </a:solidFill>
              <a:latin typeface="Segoe UI" panose="020B0502040204020203" pitchFamily="34" charset="0"/>
            </a:endParaRPr>
          </a:p>
          <a:p>
            <a:r>
              <a:rPr lang="en-US" sz="950">
                <a:solidFill>
                  <a:srgbClr val="F8FAFC"/>
                </a:solidFill>
                <a:latin typeface="Segoe UI" panose="020B0502040204020203" pitchFamily="34" charset="0"/>
              </a:rPr>
              <a:t>* Young Underweight (BMI 17.5)             -&gt; Low Risk [Passed]</a:t>
            </a:r>
          </a:p>
          <a:p>
            <a:endParaRPr lang="en-US" sz="950">
              <a:solidFill>
                <a:srgbClr val="F8FAFC"/>
              </a:solidFill>
              <a:latin typeface="Segoe UI" panose="020B0502040204020203" pitchFamily="34" charset="0"/>
            </a:endParaRPr>
          </a:p>
          <a:p>
            <a:r>
              <a:rPr lang="en-US" sz="950">
                <a:solidFill>
                  <a:srgbClr val="F8FAFC"/>
                </a:solidFill>
                <a:latin typeface="Segoe UI" panose="020B0502040204020203" pitchFamily="34" charset="0"/>
              </a:rPr>
              <a:t>* Isolated Hypertension (BP 105, Gluc 95)  -&gt; Targeted BP [Passed]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FCBC89B8-75E6-4323-887E-B7BE243BC4EE}"/>
              </a:ext>
            </a:extLst>
          </p:cNvPr>
          <p:cNvSpPr/>
          <p:nvPr/>
        </p:nvSpPr>
        <p:spPr>
          <a:xfrm>
            <a:off x="6261100" y="1206500"/>
            <a:ext cx="5359400" cy="4889500"/>
          </a:xfrm>
          <a:prstGeom prst="roundRect">
            <a:avLst/>
          </a:prstGeom>
          <a:solidFill>
            <a:srgbClr val="151E2E"/>
          </a:solidFill>
          <a:ln w="12700">
            <a:solidFill>
              <a:srgbClr val="2A385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28600" tIns="203200" rIns="228600" bIns="152400" rtlCol="0" anchor="ctr"/>
          <a:lstStyle/>
          <a:p>
            <a:r>
              <a:rPr lang="en-US" sz="1350" b="1">
                <a:solidFill>
                  <a:srgbClr val="38BDF8"/>
                </a:solidFill>
                <a:latin typeface="Segoe UI" panose="020B0502040204020203" pitchFamily="34" charset="0"/>
              </a:rPr>
              <a:t>Validation Assertions &amp; Rigor</a:t>
            </a:r>
          </a:p>
          <a:p>
            <a:endParaRPr lang="en-US" sz="1000">
              <a:solidFill>
                <a:srgbClr val="94A3B8"/>
              </a:solidFill>
              <a:latin typeface="Segoe UI" panose="020B0502040204020203" pitchFamily="34" charset="0"/>
            </a:endParaRPr>
          </a:p>
          <a:p>
            <a:r>
              <a:rPr lang="en-US" sz="1000">
                <a:solidFill>
                  <a:srgbClr val="94A3B8"/>
                </a:solidFill>
                <a:latin typeface="Segoe UI" panose="020B0502040204020203" pitchFamily="34" charset="0"/>
              </a:rPr>
              <a:t>* Neural Network Bounds Assertion:</a:t>
            </a:r>
          </a:p>
          <a:p>
            <a:r>
              <a:rPr lang="en-US" sz="1000">
                <a:solidFill>
                  <a:srgbClr val="94A3B8"/>
                </a:solidFill>
                <a:latin typeface="Segoe UI" panose="020B0502040204020203" pitchFamily="34" charset="0"/>
              </a:rPr>
              <a:t>  Probability strictly verified within [0.0, 1.0] across all profiles with no NaN or infinite results.</a:t>
            </a:r>
          </a:p>
          <a:p>
            <a:endParaRPr lang="en-US" sz="1000">
              <a:solidFill>
                <a:srgbClr val="94A3B8"/>
              </a:solidFill>
              <a:latin typeface="Segoe UI" panose="020B0502040204020203" pitchFamily="34" charset="0"/>
            </a:endParaRPr>
          </a:p>
          <a:p>
            <a:r>
              <a:rPr lang="en-US" sz="1000">
                <a:solidFill>
                  <a:srgbClr val="94A3B8"/>
                </a:solidFill>
                <a:latin typeface="Segoe UI" panose="020B0502040204020203" pitchFamily="34" charset="0"/>
              </a:rPr>
              <a:t>* Fuzzy Engine Completeness Assertion:</a:t>
            </a:r>
          </a:p>
          <a:p>
            <a:r>
              <a:rPr lang="en-US" sz="1000">
                <a:solidFill>
                  <a:srgbClr val="94A3B8"/>
                </a:solidFill>
                <a:latin typeface="Segoe UI" panose="020B0502040204020203" pitchFamily="34" charset="0"/>
              </a:rPr>
              <a:t>  Asserts category key exists in {'Low', 'Moderate', 'High', 'Severe'} and score is within [0, 100]. Confirms zero runtime crashes from edge metrics.</a:t>
            </a:r>
          </a:p>
          <a:p>
            <a:endParaRPr lang="en-US" sz="1000">
              <a:solidFill>
                <a:srgbClr val="94A3B8"/>
              </a:solidFill>
              <a:latin typeface="Segoe UI" panose="020B0502040204020203" pitchFamily="34" charset="0"/>
            </a:endParaRPr>
          </a:p>
          <a:p>
            <a:r>
              <a:rPr lang="en-US" sz="1000">
                <a:solidFill>
                  <a:srgbClr val="94A3B8"/>
                </a:solidFill>
                <a:latin typeface="Segoe UI" panose="020B0502040204020203" pitchFamily="34" charset="0"/>
              </a:rPr>
              <a:t>* Rule Safety Invariant Assertion:</a:t>
            </a:r>
          </a:p>
          <a:p>
            <a:r>
              <a:rPr lang="en-US" sz="1000">
                <a:solidFill>
                  <a:srgbClr val="94A3B8"/>
                </a:solidFill>
                <a:latin typeface="Segoe UI" panose="020B0502040204020203" pitchFamily="34" charset="0"/>
              </a:rPr>
              <a:t>  Verifies list contains &gt;= 2 recommendations and the first item strictly matches the required medical disclaimer.</a:t>
            </a:r>
          </a:p>
          <a:p>
            <a:endParaRPr lang="en-US" sz="1000">
              <a:solidFill>
                <a:srgbClr val="94A3B8"/>
              </a:solidFill>
              <a:latin typeface="Segoe UI" panose="020B0502040204020203" pitchFamily="34" charset="0"/>
            </a:endParaRPr>
          </a:p>
          <a:p>
            <a:r>
              <a:rPr lang="en-US" sz="1000">
                <a:solidFill>
                  <a:srgbClr val="94A3B8"/>
                </a:solidFill>
                <a:latin typeface="Segoe UI" panose="020B0502040204020203" pitchFamily="34" charset="0"/>
              </a:rPr>
              <a:t>* Clinical Coherence:</a:t>
            </a:r>
          </a:p>
          <a:p>
            <a:r>
              <a:rPr lang="en-US" sz="1000">
                <a:solidFill>
                  <a:srgbClr val="94A3B8"/>
                </a:solidFill>
                <a:latin typeface="Segoe UI" panose="020B0502040204020203" pitchFamily="34" charset="0"/>
              </a:rPr>
              <a:t>  Verified that extreme risk profiles reliably elevate to High/Severe, and healthy profiles remain at Low.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28618E6-4D0C-424D-BD90-481341A8C4F1}"/>
              </a:ext>
            </a:extLst>
          </p:cNvPr>
          <p:cNvSpPr txBox="1"/>
          <p:nvPr/>
        </p:nvSpPr>
        <p:spPr>
          <a:xfrm>
            <a:off x="571500" y="6375400"/>
            <a:ext cx="5715000" cy="184666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US" sz="900">
                <a:solidFill>
                  <a:srgbClr val="94A3B8"/>
                </a:solidFill>
                <a:latin typeface="Segoe UI" panose="020B0502040204020203" pitchFamily="34" charset="0"/>
              </a:rPr>
              <a:t>Essentials of AI - Group Project | Diabetes Risk &amp; Lifestyle Advisor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4806CBE-D2E1-4829-A772-DE8214327601}"/>
              </a:ext>
            </a:extLst>
          </p:cNvPr>
          <p:cNvSpPr txBox="1"/>
          <p:nvPr/>
        </p:nvSpPr>
        <p:spPr>
          <a:xfrm>
            <a:off x="6604000" y="6375400"/>
            <a:ext cx="3556000" cy="184666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US" sz="900" b="1">
                <a:solidFill>
                  <a:srgbClr val="38BDF8"/>
                </a:solidFill>
                <a:latin typeface="Segoe UI" panose="020B0502040204020203" pitchFamily="34" charset="0"/>
              </a:rPr>
              <a:t>Speaker: Member 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7C144D2-6F31-472A-AEBC-1C77C00F0D3A}"/>
              </a:ext>
            </a:extLst>
          </p:cNvPr>
          <p:cNvSpPr txBox="1"/>
          <p:nvPr/>
        </p:nvSpPr>
        <p:spPr>
          <a:xfrm>
            <a:off x="10668000" y="6375400"/>
            <a:ext cx="952500" cy="184666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pPr algn="r"/>
            <a:r>
              <a:rPr lang="en-US" sz="900">
                <a:solidFill>
                  <a:srgbClr val="94A3B8"/>
                </a:solidFill>
                <a:latin typeface="Segoe UI" panose="020B0502040204020203" pitchFamily="34" charset="0"/>
              </a:rPr>
              <a:t>10 / 12</a:t>
            </a:r>
          </a:p>
        </p:txBody>
      </p:sp>
    </p:spTree>
    <p:extLst>
      <p:ext uri="{BB962C8B-B14F-4D97-AF65-F5344CB8AC3E}">
        <p14:creationId xmlns:p14="http://schemas.microsoft.com/office/powerpoint/2010/main" val="2930721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F046E52-DA4B-4C61-9DB0-3E3A4734B9B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0F1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385A7E7-77A2-4592-B952-AE78172626B5}"/>
              </a:ext>
            </a:extLst>
          </p:cNvPr>
          <p:cNvSpPr txBox="1"/>
          <p:nvPr/>
        </p:nvSpPr>
        <p:spPr>
          <a:xfrm>
            <a:off x="571500" y="254000"/>
            <a:ext cx="6350000" cy="192360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US" sz="950" b="1">
                <a:solidFill>
                  <a:srgbClr val="FBBF24"/>
                </a:solidFill>
                <a:latin typeface="Segoe UI" panose="020B0502040204020203" pitchFamily="34" charset="0"/>
              </a:rPr>
              <a:t>RESPONSIBLE AI PRINCIPLES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E9CD665-5858-4365-BB89-7B4EAEB386B5}"/>
              </a:ext>
            </a:extLst>
          </p:cNvPr>
          <p:cNvSpPr txBox="1"/>
          <p:nvPr/>
        </p:nvSpPr>
        <p:spPr>
          <a:xfrm>
            <a:off x="571500" y="482600"/>
            <a:ext cx="10795000" cy="369332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US" sz="2100" b="1">
                <a:solidFill>
                  <a:srgbClr val="F8FAFC"/>
                </a:solidFill>
                <a:latin typeface="Segoe UI" panose="020B0502040204020203" pitchFamily="34" charset="0"/>
              </a:rPr>
              <a:t>Limitations &amp; Ethical Considerations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CB3DD08-2B31-4D90-8FF6-57307863F3AC}"/>
              </a:ext>
            </a:extLst>
          </p:cNvPr>
          <p:cNvSpPr/>
          <p:nvPr/>
        </p:nvSpPr>
        <p:spPr>
          <a:xfrm>
            <a:off x="571500" y="990600"/>
            <a:ext cx="698500" cy="38100"/>
          </a:xfrm>
          <a:prstGeom prst="rect">
            <a:avLst/>
          </a:prstGeom>
          <a:solidFill>
            <a:srgbClr val="FBBF2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8C100E0B-2A22-4108-9BA8-320F2052E59C}"/>
              </a:ext>
            </a:extLst>
          </p:cNvPr>
          <p:cNvSpPr/>
          <p:nvPr/>
        </p:nvSpPr>
        <p:spPr>
          <a:xfrm>
            <a:off x="571500" y="1206500"/>
            <a:ext cx="5359400" cy="4889500"/>
          </a:xfrm>
          <a:prstGeom prst="roundRect">
            <a:avLst/>
          </a:prstGeom>
          <a:solidFill>
            <a:srgbClr val="231810"/>
          </a:solidFill>
          <a:ln w="12700">
            <a:solidFill>
              <a:srgbClr val="D9770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28600" tIns="203200" rIns="228600" bIns="152400" rtlCol="0" anchor="ctr"/>
          <a:lstStyle/>
          <a:p>
            <a:r>
              <a:rPr lang="en-US" sz="1350" b="1">
                <a:solidFill>
                  <a:srgbClr val="FBBF24"/>
                </a:solidFill>
                <a:latin typeface="Segoe UI" panose="020B0502040204020203" pitchFamily="34" charset="0"/>
              </a:rPr>
              <a:t>Identified Project Limitations</a:t>
            </a:r>
          </a:p>
          <a:p>
            <a:endParaRPr lang="en-US" sz="1050">
              <a:solidFill>
                <a:srgbClr val="F8FAFC"/>
              </a:solidFill>
              <a:latin typeface="Segoe UI" panose="020B0502040204020203" pitchFamily="34" charset="0"/>
            </a:endParaRPr>
          </a:p>
          <a:p>
            <a:r>
              <a:rPr lang="en-US" sz="1050">
                <a:solidFill>
                  <a:srgbClr val="F8FAFC"/>
                </a:solidFill>
                <a:latin typeface="Segoe UI" panose="020B0502040204020203" pitchFamily="34" charset="0"/>
              </a:rPr>
              <a:t>* Demographic &amp; Geographic Bias:</a:t>
            </a:r>
          </a:p>
          <a:p>
            <a:r>
              <a:rPr lang="en-US" sz="1050">
                <a:solidFill>
                  <a:srgbClr val="F8FAFC"/>
                </a:solidFill>
                <a:latin typeface="Segoe UI" panose="020B0502040204020203" pitchFamily="34" charset="0"/>
              </a:rPr>
              <a:t>  The Pima Indians dataset comprises solely adult females of Pima heritage from a historical study. Findings may not generalize accurately across male, pediatric, or diverse ethnic cohorts.</a:t>
            </a:r>
          </a:p>
          <a:p>
            <a:endParaRPr lang="en-US" sz="1050">
              <a:solidFill>
                <a:srgbClr val="F8FAFC"/>
              </a:solidFill>
              <a:latin typeface="Segoe UI" panose="020B0502040204020203" pitchFamily="34" charset="0"/>
            </a:endParaRPr>
          </a:p>
          <a:p>
            <a:r>
              <a:rPr lang="en-US" sz="1050">
                <a:solidFill>
                  <a:srgbClr val="F8FAFC"/>
                </a:solidFill>
                <a:latin typeface="Segoe UI" panose="020B0502040204020203" pitchFamily="34" charset="0"/>
              </a:rPr>
              <a:t>* Limited Clinical Biomarkers:</a:t>
            </a:r>
          </a:p>
          <a:p>
            <a:r>
              <a:rPr lang="en-US" sz="1050">
                <a:solidFill>
                  <a:srgbClr val="F8FAFC"/>
                </a:solidFill>
                <a:latin typeface="Segoe UI" panose="020B0502040204020203" pitchFamily="34" charset="0"/>
              </a:rPr>
              <a:t>  The model relies on 8 basic metrics. Real clinical diagnoses evaluate HbA1c, continuous glucose telemetry, lipid panels, and comprehensive dietary histories.</a:t>
            </a:r>
          </a:p>
          <a:p>
            <a:endParaRPr lang="en-US" sz="1050">
              <a:solidFill>
                <a:srgbClr val="F8FAFC"/>
              </a:solidFill>
              <a:latin typeface="Segoe UI" panose="020B0502040204020203" pitchFamily="34" charset="0"/>
            </a:endParaRPr>
          </a:p>
          <a:p>
            <a:r>
              <a:rPr lang="en-US" sz="1050">
                <a:solidFill>
                  <a:srgbClr val="F8FAFC"/>
                </a:solidFill>
                <a:latin typeface="Segoe UI" panose="020B0502040204020203" pitchFamily="34" charset="0"/>
              </a:rPr>
              <a:t>* Sample Volume Limitations:</a:t>
            </a:r>
          </a:p>
          <a:p>
            <a:r>
              <a:rPr lang="en-US" sz="1050">
                <a:solidFill>
                  <a:srgbClr val="F8FAFC"/>
                </a:solidFill>
                <a:latin typeface="Segoe UI" panose="020B0502040204020203" pitchFamily="34" charset="0"/>
              </a:rPr>
              <a:t>  768 records is relatively small for deep generalization, necessitating lightweight architectures to prevent overfitting.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BF9880C-AEB2-4D82-91A3-9DD9EDBB7789}"/>
              </a:ext>
            </a:extLst>
          </p:cNvPr>
          <p:cNvSpPr/>
          <p:nvPr/>
        </p:nvSpPr>
        <p:spPr>
          <a:xfrm>
            <a:off x="6261100" y="1206500"/>
            <a:ext cx="5359400" cy="4889500"/>
          </a:xfrm>
          <a:prstGeom prst="roundRect">
            <a:avLst/>
          </a:prstGeom>
          <a:solidFill>
            <a:srgbClr val="0E241C"/>
          </a:solidFill>
          <a:ln w="12700">
            <a:solidFill>
              <a:srgbClr val="16A34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28600" tIns="203200" rIns="228600" bIns="152400" rtlCol="0" anchor="ctr"/>
          <a:lstStyle/>
          <a:p>
            <a:r>
              <a:rPr lang="en-US" sz="1350" b="1">
                <a:solidFill>
                  <a:srgbClr val="4ADE80"/>
                </a:solidFill>
                <a:latin typeface="Segoe UI" panose="020B0502040204020203" pitchFamily="34" charset="0"/>
              </a:rPr>
              <a:t>Proactive Ethical Safeguards</a:t>
            </a:r>
          </a:p>
          <a:p>
            <a:endParaRPr lang="en-US" sz="1050">
              <a:solidFill>
                <a:srgbClr val="F8FAFC"/>
              </a:solidFill>
              <a:latin typeface="Segoe UI" panose="020B0502040204020203" pitchFamily="34" charset="0"/>
            </a:endParaRPr>
          </a:p>
          <a:p>
            <a:r>
              <a:rPr lang="en-US" sz="1050">
                <a:solidFill>
                  <a:srgbClr val="F8FAFC"/>
                </a:solidFill>
                <a:latin typeface="Segoe UI" panose="020B0502040204020203" pitchFamily="34" charset="0"/>
              </a:rPr>
              <a:t>* Educational Screening Tool Framing:</a:t>
            </a:r>
          </a:p>
          <a:p>
            <a:r>
              <a:rPr lang="en-US" sz="1050">
                <a:solidFill>
                  <a:srgbClr val="F8FAFC"/>
                </a:solidFill>
                <a:latin typeface="Segoe UI" panose="020B0502040204020203" pitchFamily="34" charset="0"/>
              </a:rPr>
              <a:t>  System explicitly self-identifies as an educational screener, never as a diagnostic authority. Disclaimers are displayed prominently.</a:t>
            </a:r>
          </a:p>
          <a:p>
            <a:endParaRPr lang="en-US" sz="1050">
              <a:solidFill>
                <a:srgbClr val="F8FAFC"/>
              </a:solidFill>
              <a:latin typeface="Segoe UI" panose="020B0502040204020203" pitchFamily="34" charset="0"/>
            </a:endParaRPr>
          </a:p>
          <a:p>
            <a:r>
              <a:rPr lang="en-US" sz="1050">
                <a:solidFill>
                  <a:srgbClr val="F8FAFC"/>
                </a:solidFill>
                <a:latin typeface="Segoe UI" panose="020B0502040204020203" pitchFamily="34" charset="0"/>
              </a:rPr>
              <a:t>* Privacy by Design:</a:t>
            </a:r>
          </a:p>
          <a:p>
            <a:r>
              <a:rPr lang="en-US" sz="1050">
                <a:solidFill>
                  <a:srgbClr val="F8FAFC"/>
                </a:solidFill>
                <a:latin typeface="Segoe UI" panose="020B0502040204020203" pitchFamily="34" charset="0"/>
              </a:rPr>
              <a:t>  No patient data, identifiers, or prediction logs are saved to disk or transmitted to third-party APIs. Processing runs entirely in local ephemeral session memory.</a:t>
            </a:r>
          </a:p>
          <a:p>
            <a:endParaRPr lang="en-US" sz="1050">
              <a:solidFill>
                <a:srgbClr val="F8FAFC"/>
              </a:solidFill>
              <a:latin typeface="Segoe UI" panose="020B0502040204020203" pitchFamily="34" charset="0"/>
            </a:endParaRPr>
          </a:p>
          <a:p>
            <a:r>
              <a:rPr lang="en-US" sz="1050">
                <a:solidFill>
                  <a:srgbClr val="F8FAFC"/>
                </a:solidFill>
                <a:latin typeface="Segoe UI" panose="020B0502040204020203" pitchFamily="34" charset="0"/>
              </a:rPr>
              <a:t>* Asymmetric Risk Mitigation:</a:t>
            </a:r>
          </a:p>
          <a:p>
            <a:r>
              <a:rPr lang="en-US" sz="1050">
                <a:solidFill>
                  <a:srgbClr val="F8FAFC"/>
                </a:solidFill>
                <a:latin typeface="Segoe UI" panose="020B0502040204020203" pitchFamily="34" charset="0"/>
              </a:rPr>
              <a:t>  High and Severe tiers mandate professional medical consultation within defined timeframes (e.g. 2 weeks or immediate).</a:t>
            </a:r>
          </a:p>
          <a:p>
            <a:endParaRPr lang="en-US" sz="1050">
              <a:solidFill>
                <a:srgbClr val="F8FAFC"/>
              </a:solidFill>
              <a:latin typeface="Segoe UI" panose="020B0502040204020203" pitchFamily="34" charset="0"/>
            </a:endParaRPr>
          </a:p>
          <a:p>
            <a:r>
              <a:rPr lang="en-US" sz="1050">
                <a:solidFill>
                  <a:srgbClr val="F8FAFC"/>
                </a:solidFill>
                <a:latin typeface="Segoe UI" panose="020B0502040204020203" pitchFamily="34" charset="0"/>
              </a:rPr>
              <a:t>* Explainable Decision Logic:</a:t>
            </a:r>
          </a:p>
          <a:p>
            <a:r>
              <a:rPr lang="en-US" sz="1050">
                <a:solidFill>
                  <a:srgbClr val="F8FAFC"/>
                </a:solidFill>
                <a:latin typeface="Segoe UI" panose="020B0502040204020203" pitchFamily="34" charset="0"/>
              </a:rPr>
              <a:t>  Users can trace exactly how their vitals produced their risk category.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9F613E6-DF1B-4AF0-B2A7-F207492DE6E3}"/>
              </a:ext>
            </a:extLst>
          </p:cNvPr>
          <p:cNvSpPr txBox="1"/>
          <p:nvPr/>
        </p:nvSpPr>
        <p:spPr>
          <a:xfrm>
            <a:off x="571500" y="6375400"/>
            <a:ext cx="5715000" cy="184666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US" sz="900">
                <a:solidFill>
                  <a:srgbClr val="94A3B8"/>
                </a:solidFill>
                <a:latin typeface="Segoe UI" panose="020B0502040204020203" pitchFamily="34" charset="0"/>
              </a:rPr>
              <a:t>Essentials of AI - Group Project | Diabetes Risk &amp; Lifestyle Advisor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209ECE4-F55F-41E9-B68E-8653FA239FD5}"/>
              </a:ext>
            </a:extLst>
          </p:cNvPr>
          <p:cNvSpPr txBox="1"/>
          <p:nvPr/>
        </p:nvSpPr>
        <p:spPr>
          <a:xfrm>
            <a:off x="6604000" y="6375400"/>
            <a:ext cx="3556000" cy="184666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US" sz="900" b="1">
                <a:solidFill>
                  <a:srgbClr val="38BDF8"/>
                </a:solidFill>
                <a:latin typeface="Segoe UI" panose="020B0502040204020203" pitchFamily="34" charset="0"/>
              </a:rPr>
              <a:t>Speaker: Member 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C86DA29-632B-4B9D-A4DF-1B657A841DEE}"/>
              </a:ext>
            </a:extLst>
          </p:cNvPr>
          <p:cNvSpPr txBox="1"/>
          <p:nvPr/>
        </p:nvSpPr>
        <p:spPr>
          <a:xfrm>
            <a:off x="10668000" y="6375400"/>
            <a:ext cx="952500" cy="184666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pPr algn="r"/>
            <a:r>
              <a:rPr lang="en-US" sz="900">
                <a:solidFill>
                  <a:srgbClr val="94A3B8"/>
                </a:solidFill>
                <a:latin typeface="Segoe UI" panose="020B0502040204020203" pitchFamily="34" charset="0"/>
              </a:rPr>
              <a:t>11 / 12</a:t>
            </a:r>
          </a:p>
        </p:txBody>
      </p:sp>
    </p:spTree>
    <p:extLst>
      <p:ext uri="{BB962C8B-B14F-4D97-AF65-F5344CB8AC3E}">
        <p14:creationId xmlns:p14="http://schemas.microsoft.com/office/powerpoint/2010/main" val="5330336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002B284-42B8-44E6-AE66-D429B8E9DAA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0F1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F2FE690-6935-43F0-BFC7-74DC41AF6A89}"/>
              </a:ext>
            </a:extLst>
          </p:cNvPr>
          <p:cNvSpPr txBox="1"/>
          <p:nvPr/>
        </p:nvSpPr>
        <p:spPr>
          <a:xfrm>
            <a:off x="571500" y="254000"/>
            <a:ext cx="6350000" cy="192360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US" sz="950" b="1">
                <a:solidFill>
                  <a:srgbClr val="38BDF8"/>
                </a:solidFill>
                <a:latin typeface="Segoe UI" panose="020B0502040204020203" pitchFamily="34" charset="0"/>
              </a:rPr>
              <a:t>WRAP-UP &amp; SUBMISSION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8029644-FCD8-46EB-A2AF-EE443F210C4A}"/>
              </a:ext>
            </a:extLst>
          </p:cNvPr>
          <p:cNvSpPr txBox="1"/>
          <p:nvPr/>
        </p:nvSpPr>
        <p:spPr>
          <a:xfrm>
            <a:off x="571500" y="482600"/>
            <a:ext cx="10795000" cy="369332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US" sz="2100" b="1">
                <a:solidFill>
                  <a:srgbClr val="F8FAFC"/>
                </a:solidFill>
                <a:latin typeface="Segoe UI" panose="020B0502040204020203" pitchFamily="34" charset="0"/>
              </a:rPr>
              <a:t>Conclusion, Future Work &amp; Deliverables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A983E18-E3E2-4210-B643-102DC2439A60}"/>
              </a:ext>
            </a:extLst>
          </p:cNvPr>
          <p:cNvSpPr/>
          <p:nvPr/>
        </p:nvSpPr>
        <p:spPr>
          <a:xfrm>
            <a:off x="571500" y="990600"/>
            <a:ext cx="698500" cy="38100"/>
          </a:xfrm>
          <a:prstGeom prst="rect">
            <a:avLst/>
          </a:prstGeom>
          <a:solidFill>
            <a:srgbClr val="38BDF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4D56337-20B2-4735-B234-983C92AB3114}"/>
              </a:ext>
            </a:extLst>
          </p:cNvPr>
          <p:cNvSpPr/>
          <p:nvPr/>
        </p:nvSpPr>
        <p:spPr>
          <a:xfrm>
            <a:off x="571500" y="1206500"/>
            <a:ext cx="5359400" cy="4889500"/>
          </a:xfrm>
          <a:prstGeom prst="roundRect">
            <a:avLst/>
          </a:prstGeom>
          <a:solidFill>
            <a:srgbClr val="151E2E"/>
          </a:solidFill>
          <a:ln w="12700">
            <a:solidFill>
              <a:srgbClr val="2A385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28600" tIns="203200" rIns="228600" bIns="152400" rtlCol="0" anchor="ctr"/>
          <a:lstStyle/>
          <a:p>
            <a:r>
              <a:rPr lang="en-US" sz="1350" b="1">
                <a:solidFill>
                  <a:srgbClr val="38BDF8"/>
                </a:solidFill>
                <a:latin typeface="Segoe UI" panose="020B0502040204020203" pitchFamily="34" charset="0"/>
              </a:rPr>
              <a:t>Key Project Achievements</a:t>
            </a:r>
          </a:p>
          <a:p>
            <a:endParaRPr lang="en-US" sz="1050">
              <a:solidFill>
                <a:srgbClr val="F8FAFC"/>
              </a:solidFill>
              <a:latin typeface="Segoe UI" panose="020B0502040204020203" pitchFamily="34" charset="0"/>
            </a:endParaRPr>
          </a:p>
          <a:p>
            <a:r>
              <a:rPr lang="en-US" sz="1050">
                <a:solidFill>
                  <a:srgbClr val="F8FAFC"/>
                </a:solidFill>
                <a:latin typeface="Segoe UI" panose="020B0502040204020203" pitchFamily="34" charset="0"/>
              </a:rPr>
              <a:t>* Working Hybrid AI System:</a:t>
            </a:r>
          </a:p>
          <a:p>
            <a:r>
              <a:rPr lang="en-US" sz="1050">
                <a:solidFill>
                  <a:srgbClr val="F8FAFC"/>
                </a:solidFill>
                <a:latin typeface="Segoe UI" panose="020B0502040204020203" pitchFamily="34" charset="0"/>
              </a:rPr>
              <a:t>  Successfully chained a neural network (continuous risk), fuzzy logic (linguistic reasoning), and expert rules (custom lifestyle recommendations).</a:t>
            </a:r>
          </a:p>
          <a:p>
            <a:endParaRPr lang="en-US" sz="1050">
              <a:solidFill>
                <a:srgbClr val="F8FAFC"/>
              </a:solidFill>
              <a:latin typeface="Segoe UI" panose="020B0502040204020203" pitchFamily="34" charset="0"/>
            </a:endParaRPr>
          </a:p>
          <a:p>
            <a:r>
              <a:rPr lang="en-US" sz="1050">
                <a:solidFill>
                  <a:srgbClr val="F8FAFC"/>
                </a:solidFill>
                <a:latin typeface="Segoe UI" panose="020B0502040204020203" pitchFamily="34" charset="0"/>
              </a:rPr>
              <a:t>* Interactive Web Interface:</a:t>
            </a:r>
          </a:p>
          <a:p>
            <a:r>
              <a:rPr lang="en-US" sz="1050">
                <a:solidFill>
                  <a:srgbClr val="F8FAFC"/>
                </a:solidFill>
                <a:latin typeface="Segoe UI" panose="020B0502040204020203" pitchFamily="34" charset="0"/>
              </a:rPr>
              <a:t>  Deployed a polished Streamlit dashboard with real-time risk classification and inspectable pipeline outputs.</a:t>
            </a:r>
          </a:p>
          <a:p>
            <a:endParaRPr lang="en-US" sz="1050">
              <a:solidFill>
                <a:srgbClr val="F8FAFC"/>
              </a:solidFill>
              <a:latin typeface="Segoe UI" panose="020B0502040204020203" pitchFamily="34" charset="0"/>
            </a:endParaRPr>
          </a:p>
          <a:p>
            <a:r>
              <a:rPr lang="en-US" sz="1050">
                <a:solidFill>
                  <a:srgbClr val="F8FAFC"/>
                </a:solidFill>
                <a:latin typeface="Segoe UI" panose="020B0502040204020203" pitchFamily="34" charset="0"/>
              </a:rPr>
              <a:t>* Rigorous Automated Validation:</a:t>
            </a:r>
          </a:p>
          <a:p>
            <a:r>
              <a:rPr lang="en-US" sz="1050">
                <a:solidFill>
                  <a:srgbClr val="F8FAFC"/>
                </a:solidFill>
                <a:latin typeface="Segoe UI" panose="020B0502040204020203" pitchFamily="34" charset="0"/>
              </a:rPr>
              <a:t>  Validated on 10 synthetic patient profiles with 100% assertion pass rates across all individual stages.</a:t>
            </a:r>
          </a:p>
          <a:p>
            <a:endParaRPr lang="en-US" sz="1050">
              <a:solidFill>
                <a:srgbClr val="F8FAFC"/>
              </a:solidFill>
              <a:latin typeface="Segoe UI" panose="020B0502040204020203" pitchFamily="34" charset="0"/>
            </a:endParaRPr>
          </a:p>
          <a:p>
            <a:r>
              <a:rPr lang="en-US" sz="1050">
                <a:solidFill>
                  <a:srgbClr val="F8FAFC"/>
                </a:solidFill>
                <a:latin typeface="Segoe UI" panose="020B0502040204020203" pitchFamily="34" charset="0"/>
              </a:rPr>
              <a:t>* Responsible Healthcare AI:</a:t>
            </a:r>
          </a:p>
          <a:p>
            <a:r>
              <a:rPr lang="en-US" sz="1050">
                <a:solidFill>
                  <a:srgbClr val="F8FAFC"/>
                </a:solidFill>
                <a:latin typeface="Segoe UI" panose="020B0502040204020203" pitchFamily="34" charset="0"/>
              </a:rPr>
              <a:t>  Built with medical disclaimers, input validation, and privacy-preserving ephemeral computation.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B001099C-4A9D-4408-949F-E2930C05E42E}"/>
              </a:ext>
            </a:extLst>
          </p:cNvPr>
          <p:cNvSpPr/>
          <p:nvPr/>
        </p:nvSpPr>
        <p:spPr>
          <a:xfrm>
            <a:off x="6261100" y="1206500"/>
            <a:ext cx="5359400" cy="4889500"/>
          </a:xfrm>
          <a:prstGeom prst="roundRect">
            <a:avLst/>
          </a:prstGeom>
          <a:solidFill>
            <a:srgbClr val="151E2E"/>
          </a:solidFill>
          <a:ln w="12700">
            <a:solidFill>
              <a:srgbClr val="2A385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28600" tIns="203200" rIns="228600" bIns="152400" rtlCol="0" anchor="ctr"/>
          <a:lstStyle/>
          <a:p>
            <a:r>
              <a:rPr lang="en-US" sz="1350" b="1">
                <a:solidFill>
                  <a:srgbClr val="38BDF8"/>
                </a:solidFill>
                <a:latin typeface="Segoe UI" panose="020B0502040204020203" pitchFamily="34" charset="0"/>
              </a:rPr>
              <a:t>Future Roadmap &amp; Submission Checklist</a:t>
            </a:r>
          </a:p>
          <a:p>
            <a:endParaRPr lang="en-US" sz="1000">
              <a:solidFill>
                <a:srgbClr val="94A3B8"/>
              </a:solidFill>
              <a:latin typeface="Segoe UI" panose="020B0502040204020203" pitchFamily="34" charset="0"/>
            </a:endParaRPr>
          </a:p>
          <a:p>
            <a:r>
              <a:rPr lang="en-US" sz="1000">
                <a:solidFill>
                  <a:srgbClr val="94A3B8"/>
                </a:solidFill>
                <a:latin typeface="Segoe UI" panose="020B0502040204020203" pitchFamily="34" charset="0"/>
              </a:rPr>
              <a:t>* Future Technical Roadmap:</a:t>
            </a:r>
          </a:p>
          <a:p>
            <a:r>
              <a:rPr lang="en-US" sz="1000">
                <a:solidFill>
                  <a:srgbClr val="94A3B8"/>
                </a:solidFill>
                <a:latin typeface="Segoe UI" panose="020B0502040204020203" pitchFamily="34" charset="0"/>
              </a:rPr>
              <a:t>  - Retrain on diverse multi-ethnic datasets (NHANES, UK Biobank)</a:t>
            </a:r>
          </a:p>
          <a:p>
            <a:r>
              <a:rPr lang="en-US" sz="1000">
                <a:solidFill>
                  <a:srgbClr val="94A3B8"/>
                </a:solidFill>
                <a:latin typeface="Segoe UI" panose="020B0502040204020203" pitchFamily="34" charset="0"/>
              </a:rPr>
              <a:t>  - Integrate wearable sensors (Fitbit, Apple Watch) for real-time telemetry</a:t>
            </a:r>
          </a:p>
          <a:p>
            <a:r>
              <a:rPr lang="en-US" sz="1000">
                <a:solidFill>
                  <a:srgbClr val="94A3B8"/>
                </a:solidFill>
                <a:latin typeface="Segoe UI" panose="020B0502040204020203" pitchFamily="34" charset="0"/>
              </a:rPr>
              <a:t>  - Explore deep tabular architectures (TabNet, XGBoost)</a:t>
            </a:r>
          </a:p>
          <a:p>
            <a:r>
              <a:rPr lang="en-US" sz="1000">
                <a:solidFill>
                  <a:srgbClr val="94A3B8"/>
                </a:solidFill>
                <a:latin typeface="Segoe UI" panose="020B0502040204020203" pitchFamily="34" charset="0"/>
              </a:rPr>
              <a:t>  - Multi-language localization for global accessibility</a:t>
            </a:r>
          </a:p>
          <a:p>
            <a:endParaRPr lang="en-US" sz="1000">
              <a:solidFill>
                <a:srgbClr val="94A3B8"/>
              </a:solidFill>
              <a:latin typeface="Segoe UI" panose="020B0502040204020203" pitchFamily="34" charset="0"/>
            </a:endParaRPr>
          </a:p>
          <a:p>
            <a:r>
              <a:rPr lang="en-US" sz="1000">
                <a:solidFill>
                  <a:srgbClr val="94A3B8"/>
                </a:solidFill>
                <a:latin typeface="Segoe UI" panose="020B0502040204020203" pitchFamily="34" charset="0"/>
              </a:rPr>
              <a:t>* Submission Deliverables (Due Oct 9th):</a:t>
            </a:r>
          </a:p>
          <a:p>
            <a:r>
              <a:rPr lang="en-US" sz="1000">
                <a:solidFill>
                  <a:srgbClr val="94A3B8"/>
                </a:solidFill>
                <a:latin typeface="Segoe UI" panose="020B0502040204020203" pitchFamily="34" charset="0"/>
              </a:rPr>
              <a:t>  - Recorded presentation video with presenter view visible</a:t>
            </a:r>
          </a:p>
          <a:p>
            <a:r>
              <a:rPr lang="en-US" sz="1000">
                <a:solidFill>
                  <a:srgbClr val="94A3B8"/>
                </a:solidFill>
                <a:latin typeface="Segoe UI" panose="020B0502040204020203" pitchFamily="34" charset="0"/>
              </a:rPr>
              <a:t>  - Presentation slide deck (PPTX &amp; HTML format)</a:t>
            </a:r>
          </a:p>
          <a:p>
            <a:r>
              <a:rPr lang="en-US" sz="1000">
                <a:solidFill>
                  <a:srgbClr val="94A3B8"/>
                </a:solidFill>
                <a:latin typeface="Segoe UI" panose="020B0502040204020203" pitchFamily="34" charset="0"/>
              </a:rPr>
              <a:t>  - GitHub repository containing clean code, tests &amp; documentation</a:t>
            </a:r>
          </a:p>
          <a:p>
            <a:r>
              <a:rPr lang="en-US" sz="1000">
                <a:solidFill>
                  <a:srgbClr val="94A3B8"/>
                </a:solidFill>
                <a:latin typeface="Segoe UI" panose="020B0502040204020203" pitchFamily="34" charset="0"/>
              </a:rPr>
              <a:t>  - LMS video &amp; repository submission link</a:t>
            </a:r>
          </a:p>
          <a:p>
            <a:endParaRPr lang="en-US" sz="1000">
              <a:solidFill>
                <a:srgbClr val="94A3B8"/>
              </a:solidFill>
              <a:latin typeface="Segoe UI" panose="020B0502040204020203" pitchFamily="34" charset="0"/>
            </a:endParaRPr>
          </a:p>
          <a:p>
            <a:r>
              <a:rPr lang="en-US" sz="1000">
                <a:solidFill>
                  <a:srgbClr val="94A3B8"/>
                </a:solidFill>
                <a:latin typeface="Segoe UI" panose="020B0502040204020203" pitchFamily="34" charset="0"/>
              </a:rPr>
              <a:t>Thank You! Questions &amp; Viva Discussion Welcome.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9351C2A-552D-4C99-8989-6C69DAE62913}"/>
              </a:ext>
            </a:extLst>
          </p:cNvPr>
          <p:cNvSpPr txBox="1"/>
          <p:nvPr/>
        </p:nvSpPr>
        <p:spPr>
          <a:xfrm>
            <a:off x="571500" y="6375400"/>
            <a:ext cx="5715000" cy="184666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US" sz="900">
                <a:solidFill>
                  <a:srgbClr val="94A3B8"/>
                </a:solidFill>
                <a:latin typeface="Segoe UI" panose="020B0502040204020203" pitchFamily="34" charset="0"/>
              </a:rPr>
              <a:t>Essentials of AI - Group Project | Diabetes Risk &amp; Lifestyle Advisor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0B70F44-BD70-4999-8A72-CECF8E2EC413}"/>
              </a:ext>
            </a:extLst>
          </p:cNvPr>
          <p:cNvSpPr txBox="1"/>
          <p:nvPr/>
        </p:nvSpPr>
        <p:spPr>
          <a:xfrm>
            <a:off x="6604000" y="6375400"/>
            <a:ext cx="3556000" cy="184666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US" sz="900" b="1">
                <a:solidFill>
                  <a:srgbClr val="38BDF8"/>
                </a:solidFill>
                <a:latin typeface="Segoe UI" panose="020B0502040204020203" pitchFamily="34" charset="0"/>
              </a:rPr>
              <a:t>Speaker: All Members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530F3A4-51D4-4FCF-88F2-E36D4B4E0624}"/>
              </a:ext>
            </a:extLst>
          </p:cNvPr>
          <p:cNvSpPr txBox="1"/>
          <p:nvPr/>
        </p:nvSpPr>
        <p:spPr>
          <a:xfrm>
            <a:off x="10668000" y="6375400"/>
            <a:ext cx="952500" cy="184666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pPr algn="r"/>
            <a:r>
              <a:rPr lang="en-US" sz="900">
                <a:solidFill>
                  <a:srgbClr val="94A3B8"/>
                </a:solidFill>
                <a:latin typeface="Segoe UI" panose="020B0502040204020203" pitchFamily="34" charset="0"/>
              </a:rPr>
              <a:t>12 / 12</a:t>
            </a:r>
          </a:p>
        </p:txBody>
      </p:sp>
    </p:spTree>
    <p:extLst>
      <p:ext uri="{BB962C8B-B14F-4D97-AF65-F5344CB8AC3E}">
        <p14:creationId xmlns:p14="http://schemas.microsoft.com/office/powerpoint/2010/main" val="25818600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2837</Words>
  <Application>Microsoft Office PowerPoint</Application>
  <PresentationFormat>Custom</PresentationFormat>
  <Paragraphs>389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Calibri Light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Manidu Samaranayake</dc:creator>
  <cp:lastModifiedBy>Manidu Samaranayake</cp:lastModifiedBy>
  <cp:revision>1</cp:revision>
  <dcterms:created xsi:type="dcterms:W3CDTF">2026-10-07T03:24:54Z</dcterms:created>
  <dcterms:modified xsi:type="dcterms:W3CDTF">2026-10-07T03:24:54Z</dcterms:modified>
</cp:coreProperties>
</file>